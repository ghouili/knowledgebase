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2377440" cy="703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554480"/>
            <a:ext cx="457200" cy="36576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Installer des composants matériels et logiciels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B88A3F"/>
                </a:solidFill>
                <a:latin typeface="Times New Roman"/>
              </a:rPr>
              <a:t>Chapitre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Times New Roman"/>
              </a:rPr>
              <a:t>Mise en marche, gestion &amp; configuration du 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Réalisé par : Ghouili Walid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Niveau : Licence  —  Année de formation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Institut Maghrébin des Sciences Économiques et de Technologie (IMSET)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Module : Systèmes d'exploitation   |   Durée : 3 à 4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Plan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Introduction &amp;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5214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Du démarrage à un SE personnalisé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3502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1. Mise en marche d'un micro-ordinateur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POST, BIOS/UEFI, bootloader, 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2. Composantes et commandes d'un 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UNIX/DOS — la couche de 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3. Les supports de stockage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Évolution et caractéristiques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968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4. Évolution DOS →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3464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Mode textuel au mode graphique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175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5. Gestion des fichiers en mode 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5526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Commandes essentielles cmd.exe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3814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3814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6. Gestion des fichiers sous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Explorateur, raccourcis, recherche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5876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7. Configurer un SE pour un usage personnalisé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9651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Panneau de configuration moderne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8. Personnalisation des options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1713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Thèmes, démarrage, sessions, ergonomie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001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0001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Atelier — Installation et configuration d'un 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3776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Installation Windows / Ubuntu + paramétrage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1206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Synthèse, quiz d'évaluation et exercices d'application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412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4126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Références bibliographiques et webographiques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Introduction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De l'appui sur le bouton power à un environnement de travail sur-mesure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Une fois le matériel installé (Chapitre I), il faut SAVOIR L'UTILISER. Ce chapitre vous guide à travers tout le cycle d'utilisation d'un ordinateur 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COMPRENDRE le démarrage : POST, BIOS/UEFI, chargement du SE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MANIPULER le système via ses 2 interfaces : ligne de commande (DOS, terminal) et graphique (Windows, GNOME)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GÉRER les fichiers et dossiers via les commandes ET l'explorateur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CONFIGURER les paramètres fondamentaux du SE (heure, langue, réseau, comptes)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PERSONNALISER l'environnement selon les besoins (thème, démarrage auto, ergonomie).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À la fin de ce chapitre, vous saurez installer un SE de A à Z et le configurer pour qu'il réponde à un usage spécifique : poste de bureautique, station de développement, kiosque public, serveur, station multimédia…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Objectifs pédagogiques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À la fin de ce chapitre, l'étudiant sera capable de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Décrire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7 étapes du démarrage d'un 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Utiliser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commandes essentielles de cmd.exe (DOS).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Comparer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supports de stockage (HDD, SSD, USB, optique).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Distinguer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mode textuel (CLI) et mode graphique (GUI).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Naviguer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dans l'Explorateur Windows avec raccourcis avancés.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Configurer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Windows 11 : compte, réseau, fuseau, langue.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Personnaliser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thème, fond, ergonomie, applis au démarrage.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Installer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SE complet (Windows ou Ubuntu) dans une VM.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Mise en marche d'un micro-ordinateur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POST, BIOS/UEFI, bootloader, 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 se passe-t-il quand vous appuyez sur Power 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Alimentation électrique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bouton Power signale à l'alimentation (PSU) de fournir le courant. La PSU envoie 3,3 V, 5 V, 12 V à la carte mère.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700784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55064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CPU démarre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47672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CPU exécute sa PREMIÈRE INSTRUCTION qui pointe vers le BIOS/UEFI dans la ROM.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500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042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POST — Power-On Self-Test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96896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BIOS teste rapidement : RAM, CPU, GPU, clavier, disques. En cas d'erreur : bips sonores ou code à l'écran.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999232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92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Détection du matériel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46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BIOS énumère et identifie tous les disques, ports, périphériques connectés.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648456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484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02736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Choix du périphérique de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9534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Selon l'ordre configuré (Boot Order), le BIOS charge le bootloader depuis le 1er périphérique amorçable trouvé.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Bootloader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4456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GRUB (Linux) ou Windows Boot Manager. Affiche un menu si plusieurs SE. Charge le NOYAU choisi en RAM.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946904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469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01184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Initialisation du noyau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93792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noyau prend le contrôle. Charge les pilotes, monte le système de fichiers, démarre les services.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596128"/>
            <a:ext cx="411480" cy="41148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961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55040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Affichage du login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43016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 SE est PRÊT. Écran de connexion (login screen) ou bureau si auto-login activé.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BIOS vs UEFI — le firmware d'amorçage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BIOS (Basic Input/Output System)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532120" cy="41148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4924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Firmware d'origine (IBM, 1981). Mode 16 bits.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Caractéristiques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Interface texte clavier seul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Disques limités à 2,2 To (table MBR)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Démarrage lent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Pas de Secure Boot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Maximum 4 partitions primaires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Encore présent sur les PC &lt; 2012.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Touche d'accès : F2, F10, F12, Suppr (selon constructeur).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UEFI (Unified Extensible Firmware Interface)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32120" cy="41148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49240" cy="4023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Standard moderne (depuis ~2008). Mode 32/64 bits.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Caractéristiques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Interface graphique + souris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Disques &gt; 2 To supportés (GPT)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Démarrage RAPIDE (Fast Boot)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Secure Boot (signature numérique)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Plus de 4 partitions sans astuce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Pilotes UEFI, applications EFI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Standard sur tous les PC modernes.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Pile CMOS (CR2032) + horloge RTC : conservent l'heure et les réglages BIOS/UEFI même PC éteint.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Commandes d'un système d'exploitation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UNIX vs DOS — comparaison fondamentale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Commandes UNIX et DOS — comparaison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Les commandes shell sont la base de tout SE. Voici l'équivalence DOS / UNIX (Linux).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420624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5087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Sous DOS / Windows cmd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508760"/>
            <a:ext cx="429768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5087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Sous UNIX /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7452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Lister fichiers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74520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8745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dir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874520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7452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6712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671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Changer de dossier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167128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16712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cd, chdir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167128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16712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59736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45973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Créer un dossier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459736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45973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mkdir, 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459736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45973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mkdir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5234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75234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Supprimer un dossier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752344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275234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rmdir, 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2752344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75234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rmdir / rm -r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44952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4495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Copier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044952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04495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copy, xcopy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044952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0449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37560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3375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Déplacer / renommer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337560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333756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move, ren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337560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33375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mv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30168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6301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Supprimer fichier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630168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36301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del, erase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630168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363016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22776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92277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Afficher contenu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922776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6120" y="392277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type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922776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52360" y="392277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cat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215384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21538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Nettoyer l'écran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4215384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421538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cls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06640" y="4215384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52360" y="421538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clear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507992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50799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Aide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4507992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46120" y="45079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help, /?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06640" y="4507992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52360" y="450799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man, --help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800600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800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Afficher chemin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4800600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46120" y="48006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cd (sans argument)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4800600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4800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pwd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09320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09320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Comparer fichiers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5093208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46120" y="509320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fc, comp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06640" y="5093208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52360" y="509320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diff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385816"/>
            <a:ext cx="274320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538581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Chercher dans fichier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5385816"/>
            <a:ext cx="420624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46120" y="538581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find, findstr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06640" y="5385816"/>
            <a:ext cx="4297680" cy="292608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52360" y="538581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grep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67842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567842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Quitter shell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0" y="5678424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46120" y="567842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exit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06640" y="5678424"/>
            <a:ext cx="4297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52360" y="567842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exit, Ctrl+D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Picture 95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Zoom sur DOS / cmd.exe — commandes essentielles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Ouvrir cmd.exe : Démarrer → tapez 'cmd' → Entrée.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Lister fichiers/dossiers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08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dir /A   (cachés inclus)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Changer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508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cd \        (racine)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019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md / mkdir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9019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Créer dossier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90195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md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01952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019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rd / rmdir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019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Supprimer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0195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rd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95144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2951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Copier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9514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copy fichier.txt sauvegarde.txt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95144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2951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xcopy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2951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Copier (étendu)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29514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xcopy C:\dossier D:\dossier /E /H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88336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68833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move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26883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Déplacer / renommer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268833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move fichier.txt D:\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688336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68833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6883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Supprimer fichier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68833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del fichier.txt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81528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0815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30815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Afficher contenu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30815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type fichier.txt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081528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08152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0815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Effacer écran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08152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cls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74720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4747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tree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3474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Arborescence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3474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tree /F  (avec fichiers)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74720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4747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ipconfig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474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Config réseau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3474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ipconfig /all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867912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8679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ping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5920" y="3867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Tester un hôte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03320" y="38679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ping google.com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867912"/>
            <a:ext cx="10972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38679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shutdown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867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Arrêt / redémarrage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38679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onsolas"/>
              </a:rPr>
              <a:t>shutdown /s /t 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Les supports de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Évolution et caractéristiques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Évolution des supports de stockage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19456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237744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0058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Capacité typique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005840"/>
            <a:ext cx="22860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005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Vitesse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005840"/>
            <a:ext cx="438912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0058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Usage actuel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Carte perforée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37160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371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80 colonnes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Manuel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3716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Disparu (1970s)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7373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Bande magnétique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73736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17373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jusqu'à 30 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73736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7373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30-400 Mo/s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73736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Backups archivage longue durée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10312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1031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Disquette 3,5"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10312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1,44 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10312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 Mo/s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10312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21031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Disparue (2010s)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4688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CD-ROM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46888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24688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700 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246888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24688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1,2 Mo/s (1x)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246888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24688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Quasi disparu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834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DVD-ROM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283464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2834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4,7 - 9 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283464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2834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10,5 Mo/s (1x)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83464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28346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En recul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2004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Blu-ray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20040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97480" y="3200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25 - 100 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320040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3200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36 Mo/s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20040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32004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Niche (films, archives)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56616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3566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HDD (mécanique)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356616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97480" y="3566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1 - 20 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356616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7492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100-200 Mo/s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356616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60920" y="35661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Stockage de masse (peu cher)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93192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931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SSD SATA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51760" y="393192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3931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250 Go - 8 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0" y="393192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74920" y="3931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550 Mo/s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393192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60920" y="39319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OS et applications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29768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SSD NVMe (M.2)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51760" y="429768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9748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250 Go - 8 To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0" y="429768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74920" y="42976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3-14 Go/s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0" y="429768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60920" y="42976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Performances maximales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66344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46634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Clé USB Flash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466344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9748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8 Go - 2 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0" y="46634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74920" y="46634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30-400 Mo/s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0" y="466344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60920" y="46634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Transport, backups occasionnels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02920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Carte SD / microSD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97480" y="50292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16 Go - 1 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0" y="5029200"/>
            <a:ext cx="22860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74920" y="5029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90-200 Mo/s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5029200"/>
            <a:ext cx="43891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60920" y="50292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Smartphones, photo, Raspberry Pi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3949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" y="5394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Cloud (réseau)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51760" y="539496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97480" y="53949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Illimitée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0" y="539496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74920" y="53949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Variable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15200" y="5394960"/>
            <a:ext cx="4389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60920" y="53949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Sauvegarde et partage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9" name="Picture 10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L'explosion des capacités de stockage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En 50 ans, la capacité a été multipliée par plus d'un million.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1956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0876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IBM RAMAC 305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08760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5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Premier disque dur — 1 tonne, 50 plateaux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11096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1109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1911096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91109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Disquette 8"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911096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110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80 Ko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6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IBM, support amovible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13432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1343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2313432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31343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HDD PC IBM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313432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3134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10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1343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Sur le premier IBM 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15768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157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2715768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27157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Disque dur PC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715768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7157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100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715768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Démocratisation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118104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118104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1995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3118104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311810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CD-R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118104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11810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650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118104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Gravure grand public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520440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5204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17320" y="352044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35204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HDD bureau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520440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3520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30 - 80 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52044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Encore mécanique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22776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2277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17320" y="3922776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4480" y="392277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DVD-R double couche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3922776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392277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8,5 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3922776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Backups, films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325112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32511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17320" y="4325112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432511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SSD grand public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4325112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43251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120 Go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32511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Premier saut de vitesse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727448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7274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17320" y="4727448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54480" y="4727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SSD NVMe M.2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4727448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47274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500 Go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4727448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Vitesses x10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9784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129784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17320" y="5129784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54480" y="512978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HDD pro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5129784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80" y="51297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20 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5080" y="5129784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Pour datacenters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532120"/>
            <a:ext cx="9144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532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17320" y="553212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54480" y="5532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SSD NVMe consumer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0" y="5532120"/>
            <a:ext cx="2011680" cy="365760"/>
          </a:xfrm>
          <a:prstGeom prst="rect">
            <a:avLst/>
          </a:prstGeom>
          <a:solidFill>
            <a:srgbClr val="F7ECD0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0" y="55321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onsolas"/>
              </a:rPr>
              <a:t>4 - 8 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553212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Performances 14 Go/s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Picture 8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Évolution : DOS →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Du mode textuel au mode graphique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De MS-DOS à Windows 11 — 40 ans d'évolution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MS-DOS 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0058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1981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005840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Premier SE de Microsoft (basé sur 86-DOS). Interface texte seule, mono-tâche.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82496"/>
            <a:ext cx="201168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82496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82496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682496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1985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82496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682496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Première interface graphique de Microsoft, par-dessus MS-DOS. Fenêtres « tilées 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201168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5915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3.0/3.1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359152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35915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1990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359152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359152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Premier succès commercial : icônes, multitâche, gestionnaire de fichiers.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35808"/>
            <a:ext cx="2011680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358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035808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035808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035808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035808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RÉVOLUTION : menu Démarrer, barre des tâches, Plug-and-Play, navigateur web.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12464"/>
            <a:ext cx="2011680" cy="6400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12464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XP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3712464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712464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B88A3F"/>
                </a:solidFill>
                <a:latin typeface="Calibri"/>
              </a:rPr>
              <a:t>2001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12464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712464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Base NT stable + interface unifiée. 13 ans de domination.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89120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891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4389120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438912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2009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389120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4389120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Compromis idéal : performance, design moderne, compatibilité.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65776"/>
            <a:ext cx="201168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65776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5065776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4600" y="5065776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2015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5065776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5065776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OS comme service (mises à jour continues). Cortana, Edge.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742432"/>
            <a:ext cx="201168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74243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Windows 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742432"/>
            <a:ext cx="914400" cy="640080"/>
          </a:xfrm>
          <a:prstGeom prst="rect">
            <a:avLst/>
          </a:prstGeom>
          <a:solidFill>
            <a:srgbClr val="F7ECD0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574243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2021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5742432"/>
            <a:ext cx="8229600" cy="64008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5742432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Design centré (menu, taskbar), TPM 2.0, ARM, WSL2, IA Copilot.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Mode textuel (CLI) vs mode graphique (GUI)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 — Command Line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532120" cy="4480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49240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Interaction par tapage de commandes textuelles.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Exemples : cmd.exe (Windows), bash (Linux), PowerShell.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AVANTAGES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Rapide et précis pour les experts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Scriptable — automatisation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Léger (pas de mode graphique)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Accès à distance via SSH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Toutes les options disponibles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INCONVÉNIENTS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Courbe d'apprentissage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Erreurs de frappe destructrices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Pas de visualisation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GUI — Graphical User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32120" cy="4480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49240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Interaction par fenêtres, icônes, menus, souris.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Exemples : Explorateur Windows, GNOME, KDE, macOS Finder.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AVANTAGES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Intuitif pour débutants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Visualisation directe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Drag &amp; drop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Multi-fenêtres simultanées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✓  Aides contextuelles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INCONVÉNIENTS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Plus lent pour répéter une tâche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Consomme RAM et CPU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✗  Pas toujours scriptable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Le mieux : MAÎTRISER LES DEUX. GUI pour le quotidien, CLI pour l'efficacité et les serveurs.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Gestion des fichiers sous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Explorateur, raccourcis avancés, recherche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L'Explorateur Windows — raccourcis essentiels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Win +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058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Ouvrir l'Explorateur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0584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0058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Nouvelle fenêtre Explorateur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0584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00584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00584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Nouvel onglet (Win 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89888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8988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Alt + ←/→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38988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Navigation arrière/avant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89888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8988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Alt +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38988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Remonter d'un dossier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89888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8988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38988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Renommer le fichier sélectionné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73936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77393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F5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177393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Rafraîchir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773936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F11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77393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Plein écran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773936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77393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Shift +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77393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Nouveau dossier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157984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1579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C / X /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21579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Copier / couper / coller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157984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1579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Suppr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1579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Mettre à la corbeille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157984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1579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Shift + Suppr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1579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Supprimer définitivement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542032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54203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254203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Annuler la dernière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542032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254203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254203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Sélectionner tout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542032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54203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clic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54203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Sélection multiple non contiguë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2608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292608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Shift + clic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29260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Sélection multiple contiguë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292608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0" y="292608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Ctrl + 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29260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Rechercher (focus barre)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2926080"/>
            <a:ext cx="1463040" cy="32918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292608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Alt + Entrée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9260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Propriétés du fichier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2336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Recherche avancée dans l'Explorateur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434840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434840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*.pdf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4434840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0600" y="4434840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Tous les PDF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745736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45736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rapport*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745736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745736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Tous les fichiers commençant par 'rapport'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056632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5056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size:&gt;100MB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5056632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00600" y="5056632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Fichiers &gt; 100 Mo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367528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367528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datemodified:&gt;=01/01/2024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5367528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5367528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Modifiés depuis 1er jan 2024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678424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5678424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kind:image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5678424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00600" y="5678424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Toutes les images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4114800" cy="274320"/>
          </a:xfrm>
          <a:prstGeom prst="rect">
            <a:avLst/>
          </a:prstGeom>
          <a:solidFill>
            <a:srgbClr val="2C2A26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5989320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D2AB67"/>
                </a:solidFill>
                <a:latin typeface="Consolas"/>
              </a:rPr>
              <a:t>name:cours AND ext:.docx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5989320"/>
            <a:ext cx="7040880" cy="27432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00600" y="5989320"/>
            <a:ext cx="69037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Mot 'cours' dans nom + extension .docx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4" name="Picture 83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Times New Roman"/>
              </a:rPr>
              <a:t>Configurer un SE pour un usage personnalisé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Paramètres fondamentaux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paramètres fondamentaux d'un 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Après installation, voici les réglages PRIORITAIRES à effectuer.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1. Région &amp;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Définir la langue, le format de date/heure, la disposition du clavier.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Windows : Paramètres → Heure et langue.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Linux : sudo dpkg-reconfigure locales ; sudo dpkg-reconfigure keyboard-configuration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2. Fuseau horaire &amp; heure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Synchroniser avec un serveur NTP (Network Time Protocol).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Important pour les logs, le SSL, les certificats.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3. Réseau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Configurer Wi-Fi ou Ethernet. IP statique ou DHCP. DNS (8.8.8.8, 1.1.1.1).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Tester avec ping ou speedtest.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4. Compte utilisateur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Créer un compte principal AVEC mot de passe FORT. Activer la 2FA si possible.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Éviter l'utilisation quotidienne du compte administrateur.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5. Mises à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Activer Windows Update ou apt update + apt upgrade régulier.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Patcher les failles de sécurité dès leur sortie.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6. Antivirus / pare-feu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Windows Defender activé (Windows). ufw / firewalld (Linux).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 pas désactiver sans solution de remplacement.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Times New Roman"/>
              </a:rPr>
              <a:t>7. Sauvegardes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Configurer une sauvegarde automatique (Historique de fichiers, rsync, Time Machine).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Tester la restauration AVANT d'en avoir besoin.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Personnalisation Windows — options à connaître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005840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024128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Thème (clair/sombre)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0700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Personnalisation → Couleurs → Choisir le mode.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005840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024128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Fond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20700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Personnalisation → Arrière-plan. Image, couleur unie, diaporama.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36192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53619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536192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155448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Économiseur d'écran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3736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Toujours Win + R → control desk.cpl,,@screensaver.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36192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3619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536192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55448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Démarrage automatique (apps)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73736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Applications → Démarrage. Ou Win + R → shell:startup.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66544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66544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2066544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2084832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Programmes par défaut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26771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Applications → Applications par défaut.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066544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066544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2066544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084832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Variables d'environnement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26771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Système → À propos → Paramètres avancés → Variables d'environnement.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596896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59689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2596896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615184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Accessibilité (Ergonomie)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2798064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Accessibilité. Loupe, lecteur d'écran, contraste élevé.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596896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59689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596896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2615184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Comptes utilisateurs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2798064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Comptes → Famille et autres utilisateurs.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127248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12724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127248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3145536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Options d'alimentation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3328416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Paramètres → Système → Alimentation. Économie d'énergie, performances.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127248"/>
            <a:ext cx="365760" cy="4572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127248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3127248"/>
            <a:ext cx="507492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145536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8A3F"/>
                </a:solidFill>
                <a:latin typeface="Calibri"/>
              </a:rPr>
              <a:t>Base de registre (avancé)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328416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Win + R → regedit. ⚠ Toujours exporter avant de modifier.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Installation et configuration d'un 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Pratique guidée Windows ou Ubuntu en VM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Atelier — installer et configurer Ubuntu 24.04 (VM)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Durée : 2 h  |  Mode : individuel ou binôme  |  Niveau :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Partie 1 — Créer la VM dans VirtualBox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47120" cy="128016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1. Télécharger VirtualBox + ISO Ubuntu 24.04 Desktop (ubuntu.com)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2. VirtualBox → New → Name : Ubuntu Desktop, OS : Linux, Version : Ubuntu 64-bit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3. ISO Image : sélectionner le fichier .iso, DÉCOCHER 'Unattended Installation'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4. RAM : 4096 Mo  |  CPUs : 2  |  Disk : 25 Go  → Finish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5. Démarrer la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Partie 2 — Suivre l'installeur Ubuntu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1247120" cy="128016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1. Langue : Français          2. Disposition clavier : Français AZERTY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3. Type d'installation : Effacer le disque (de la VM uniquement !)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4. Fuseau horaire : Africa/Tunis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5. Compte : Nom complet, nom d'utilisateur 'walid', mot de passe robuste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Partie 3 — Configuration post-installation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sudo apt update &amp;&amp; sudo apt upgrade -y         # mises à jour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sudo apt install -y git curl vim htop tree     # outils utiles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timedatectl set-timezone Africa/Tunis           # fuseau</a:t>
            </a:r>
          </a:p>
          <a:p>
            <a:pPr algn="l"/>
            <a:r>
              <a:rPr sz="1000" b="0" i="0">
                <a:solidFill>
                  <a:srgbClr val="D2AB67"/>
                </a:solidFill>
                <a:latin typeface="Consolas"/>
              </a:rPr>
              <a:t># Personnalisation : Paramètres → Apparence → Mode sombre, fond d'écran, raccourcis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Synthèse globale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98755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8755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Démarrage : Power → POST → BIOS/UEFI → Bootloader → Kernel → Login.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9047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BIOS : ancien, 16 bits, MBR. UEFI : moderne, 64 bits, GPT, Secure Boot.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9339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933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Commandes DOS : dir, cd, md, copy, move, del, cls, type.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49631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9631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Commandes UNIX équivalentes : ls, cd, mkdir, cp, mv, rm, clear, cat.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99923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92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9923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Stockage : HDD (mécanique), SSD SATA, NVMe (PCIe), USB, cloud.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0215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Du DOS texte au Windows graphique : 40 ans d'évolution.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00507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050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0507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CLI vs GUI : maîtriser les deux. CLI pour serveurs, GUI pour ergonomie.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50799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079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0799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Explorateur Windows : Win+E, F2 rename, Ctrl+Shift+N nouveau dossier.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01091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109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1091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7 paramètres fondamentaux après installation : région, heure, réseau, compte, MAJ, antivirus, backups.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13832"/>
            <a:ext cx="347472" cy="347472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138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13832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Personnalisation : thème, fond, démarrage auto, accessibilité, comptes.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POST se déroule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Après le démarrage du SE    b) Avant le chargement du noyau    c) À l'arrêt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Power-On Self-Test.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L'UEFI remplace progressivement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Le CPU    b) Le BIOS    c) Le 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firmware moderne.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Sous DOS, pour lister les fichiers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ls    b) dir    c)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dir.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Sous Linux, pour copier un fichier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copy    b) cp    c)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cp.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SSD NVMe atteint typiquement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100 Mo/s    b) 550 Mo/s    c) 3 à 14 Go/s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c — bus PCIe direct.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raccourci Win + E ouvre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cmd.exe    b) L'Explorateur Windows    c) Le Bloc-notes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Explorer.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GUI signifie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General User Interface    b) Graphical User Interface    c) Group User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Graphical User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Pour renommer un fichier sélectionné dans Windows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F1    b) F2    c) F5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F2.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premier paramètre à régler après installation est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Le fond d'écran    b) La région et l'heure    c) Le navigateur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région, langue, heure, fuseau.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Quel SE est en mode TEXTUEL pur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Windows 11    b) MS-DOS    c) macOS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MS-DOS, interface texte seule.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Conclusion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Vous savez installer et configurer un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Vous avez désormais une vision COMPLÈTE du cycle d'utilisation d'un ordinateur 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comprenez la séquence de DÉMARRAGE (POST → BIOS/UEFI → Bootloader → Kernel)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savez utiliser les COMMANDES DOS et UNIX, et faire l'équivalence entre les deux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connaissez l'évolution des SUPPORTS DE STOCKAGE et leurs caractéristiques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maîtrisez les MODES CLI et GUI, et savez quand utiliser l'un ou l'autre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savez NAVIGUER efficacement dans l'Explorateur Windows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savez CONFIGURER un SE après installation et le PERSONNALISER selon les besoins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avez installé Ubuntu 24.04 dans une VM, configuré la langue, le réseau, les mises à jour.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Au chapitre suivant, nous nous attaquons aux PÉRIPHÉRIQUES : comment lire leur documentation technique, vérifier les pré-requis, prévoir les étapes d'installation et les installer correctement.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« Un SE bien configuré est invisible — il fait son travail sans qu'on y pense. 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Références bibliographiques et webographiques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Bibliographie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Mueller S. — Upgrading and Repairing PCs, 22ᵉ éd., Que Publishing, 2015.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Cowart R., Knittel B. — Microsoft Windows 11 Inside Out, Microsoft Press,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Shotts W. — The Linux Command Line, 5ᵉ éd., No Starch Press, 2019.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Petzold C. — Programming Windows, 5ᵉ éd., Microsoft Press, 1998.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Sobell M. — A Practical Guide to Ubuntu Linux, 4ᵉ éd., Prentice Hall, 2015.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Webographie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support.microsoft.com/windows  —  centre d'aide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docs.microsoft.com/windows-server/administration/windows-commands  —  commandes cmd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856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ubuntu.com/tutorials/install-ubuntu-desktop  —  installation Ubuntu officielle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3250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ss64.com/nt  —  référence commandes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ss64.com/bash  —  référence commandes bash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fr.wikipedia.org/wiki/MS-DOS  /  Windows  /  Disque_dur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uefi.org/specifications  —  spécifications UEFI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005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virtualbox.org/wiki/Documentation  —  documentation VirtualBox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6694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kingston.com/fr/blog  —  guides supports de stockage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138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tomshardware.fr  —  benchmarks stockage et matériel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