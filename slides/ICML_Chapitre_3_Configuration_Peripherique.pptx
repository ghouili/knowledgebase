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1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2377440" cy="7039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554480"/>
            <a:ext cx="457200" cy="36576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1">
                <a:solidFill>
                  <a:srgbClr val="6B6B6B"/>
                </a:solidFill>
                <a:latin typeface="Calibri"/>
              </a:rPr>
              <a:t>Installer des composants matériels et logiciels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400" b="1" i="0">
                <a:solidFill>
                  <a:srgbClr val="B88A3F"/>
                </a:solidFill>
                <a:latin typeface="Times New Roman"/>
              </a:rPr>
              <a:t>Chapitre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124712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Times New Roman"/>
              </a:rPr>
              <a:t>Configuration et exploitation d'un périphérique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18288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Réalisé par : Ghouili Walid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Niveau : Licence  —  Année de formation 2025-2026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Institut Maghrébin des Sciences Économiques et de Technologie (IMSET)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Module : Systèmes d'exploitation   |   Durée : 3 à 4 heures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Plan du chapitre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1440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Introduction &amp; objectifs pédagogiques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152144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Maîtriser l'installation des périphériques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3502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35024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1. Les différents types de périphériques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7276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Imprimante, scanner, caméra, projecteur…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75564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2. Le concept de pilote (driver)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93392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Pont entre matériel et 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7627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76272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3. La documentation technique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414016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Structure et lecture d'un manuel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9689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9689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4. Interpréter une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34640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Spécifications, schémas, prérequis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1752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01752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5. Vérifier la configuration minimale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255264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Compatibilité matérielle et logicielle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3814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438144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6. Prévoir les étapes d'installation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675888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Méthodologie en 7 étapes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85876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85876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7. Installer et configurer le pilote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096512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Sources, signatures, paramétrage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7939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279392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8. Diagnostic et dépannage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517136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Gestionnaire de périphériques, dmesg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0001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70001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Atelier — Installation d'une imprimante réseau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937760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Cas pratique complet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12064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12064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Synthèse, quiz d'évaluation et exercices d'application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54126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 i="0">
                <a:solidFill>
                  <a:srgbClr val="B88A3F"/>
                </a:solidFill>
                <a:latin typeface="Times New Roman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541264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Références bibliographiques et webographiques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Introduction du chapitre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i="0">
                <a:solidFill>
                  <a:srgbClr val="B88A3F"/>
                </a:solidFill>
                <a:latin typeface="Times New Roman"/>
              </a:rPr>
              <a:t>Installer un périphérique : plus qu'un simple branchement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Brancher un câble USB ne suffit pas toujours. De nombreux périphériques requièrent :</a:t>
            </a:r>
          </a:p>
          <a:p>
            <a:pPr algn="l"/>
            <a:endParaRPr sz="13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Un PILOTE (driver) spécifique au modèle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Une VÉRIFICATION DE COMPATIBILITÉ avec votre SE et matériel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Une LECTURE de la documentation technique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Une CONFIGURATION (résolution, papier, mode économique, port…)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Un TEST final pour valider le fonctionnement.</a:t>
            </a:r>
          </a:p>
          <a:p>
            <a:pPr algn="l"/>
            <a:endParaRPr sz="13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Le métier de technicien support consiste justement à savoir lire un manuel, prévoir les étapes, et résoudre les problèmes quand un périphérique « ne marche pas ».</a:t>
            </a:r>
          </a:p>
          <a:p>
            <a:pPr algn="l"/>
            <a:endParaRPr sz="13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Ce chapitre vous donne la MÉTHODOLOGIE pour installer N'IMPORTE QUEL périphérique avec confiance — qu'il s'agisse d'une imprimante de bureau, d'un scanner professionnel, d'une caméra IP, ou d'un projecteur de salle de classe.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Objectifs pédagogiques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À la fin de ce chapitre, l'étudiant sera capable de 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Identifier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les différents types de périphériques.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Comprendre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le rôle d'un pilote (driver) dans le 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42032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6334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Lire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53512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une documentation technique de périphérique.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542032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6334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Interpréter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53512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les spécifications et schémas techniques.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66744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75818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Vérifier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78224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la configuration minimale requise.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66744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75818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Planifier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078224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les étapes d'installation en méthode 7-étapes.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91456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88289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Installer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02936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un périphérique de A à Z (USB, réseau, BT).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791456"/>
            <a:ext cx="5440680" cy="96012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88289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Diagnostiquer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202936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une panne via le Gestionnaire de périphériques.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imes New Roman"/>
              </a:rPr>
              <a:t>Différents types de périphériques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Catalogue complet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Catalogue des périphériques courants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960120"/>
            <a:ext cx="553212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457200" y="984272"/>
            <a:ext cx="5532120" cy="363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Périphériques d'ENTRÉE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32120" cy="219456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25780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1">
                <a:solidFill>
                  <a:srgbClr val="1F4E79"/>
                </a:solidFill>
                <a:latin typeface="Calibri"/>
              </a:rPr>
              <a:t>Capturent l'information de l'extérieur vers l'ordinateur.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257800" cy="97872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Clavier, souris, trackpad, joystick, manette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Scanner, douchette code-barre, lecteur de cartes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Microphone, casque-micro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Webcam, caméra IP, appareil photo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Écran tactile (entrée + sortie)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960120"/>
            <a:ext cx="553212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6172200" y="984272"/>
            <a:ext cx="5532120" cy="363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Périphériques de SORTIE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532120" cy="219456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309360" y="1417320"/>
            <a:ext cx="525780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1">
                <a:solidFill>
                  <a:srgbClr val="2E7D32"/>
                </a:solidFill>
                <a:latin typeface="Calibri"/>
              </a:rPr>
              <a:t>Restituent l'information de l'ordinateur vers l'utilisateur.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5257800" cy="97872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Écran, vidéoprojecteur, télé connectée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Imprimante (jet d'encre, laser, thermique, 3D)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Traceur (plotter) grand format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Haut-parleurs, casque audio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Imprimante 3D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5532120" cy="4114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457200" y="3681752"/>
            <a:ext cx="5532120" cy="363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Périphériques de STOCKAGE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69080"/>
            <a:ext cx="5532120" cy="219456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594360" y="4114800"/>
            <a:ext cx="525780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1">
                <a:solidFill>
                  <a:srgbClr val="E67E22"/>
                </a:solidFill>
                <a:latin typeface="Calibri"/>
              </a:rPr>
              <a:t>Enregistrent et restituent les données.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26280"/>
            <a:ext cx="5257800" cy="97872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Disque dur externe, SSD externe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Clé USB, carte SD/microSD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Graveur CD/DVD/Blu-ray externe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NAS (stockage réseau)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Bandothèque (LTO)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657600"/>
            <a:ext cx="553212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6172200" y="3681752"/>
            <a:ext cx="5532120" cy="363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Périphériques de COMMUNICATION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069080"/>
            <a:ext cx="5532120" cy="219456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6309360" y="4114800"/>
            <a:ext cx="525780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1">
                <a:solidFill>
                  <a:srgbClr val="C62828"/>
                </a:solidFill>
                <a:latin typeface="Calibri"/>
              </a:rPr>
              <a:t>Permettent la communication avec d'autres machines / réseaux.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526280"/>
            <a:ext cx="5257800" cy="97872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Modem (analogique, ADSL, fibre, 4G/5G)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Routeur, switch, point d'accès Wi-Fi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Carte réseau Ethernet, Wi-Fi, Bluetooth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Émetteur-récepteur radio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Antenne satellite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Times New Roman"/>
              </a:rPr>
              <a:t>Le pilote (driver) — pont matériel/SE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Sans pilote, pas de périphérique fonctionnel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Qu'est-ce qu'un pilote (driver) 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6400800" cy="4247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Définition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6400800" cy="2271391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Un PILOTE (driver) est un PETIT PROGRAMME qui sait « parler » à un type précis de matériel.</a:t>
            </a:r>
          </a:p>
          <a:p>
            <a:pPr algn="l"/>
            <a:endParaRPr sz="16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Il fait le pont entre :</a:t>
            </a:r>
          </a:p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  •  Le SE générique (qui dit « j'ai un fichier à imprimer ») ;</a:t>
            </a:r>
          </a:p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  •  Le matériel précis (qui attend un format de commande SPÉCIFIQUE).</a:t>
            </a:r>
          </a:p>
          <a:p>
            <a:pPr algn="l"/>
            <a:endParaRPr sz="16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Sans le bon pilote, le SE ne peut pas utiliser le périphérique. Avec le bon pilote, le périphérique apparaît dans le SE et fonctionne.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6400800" cy="33239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>
                <a:solidFill>
                  <a:srgbClr val="B88A3F"/>
                </a:solidFill>
                <a:latin typeface="Times New Roman"/>
              </a:rPr>
              <a:t>Origines d'un pilote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09160"/>
            <a:ext cx="18288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219456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Intégré au 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4709160"/>
            <a:ext cx="39319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Windows / Linux livrent ~80 % des pilotes courants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983480"/>
            <a:ext cx="18288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219456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Site du constructeur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4983480"/>
            <a:ext cx="39319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HP, Canon, NVIDIA, Logitech proposent leurs pilotes officiels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57800"/>
            <a:ext cx="18288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219456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CD/clé fourni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5257800"/>
            <a:ext cx="39319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Avec certains périphériques (de plus en plus rare)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32120"/>
            <a:ext cx="18288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219456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Windows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5532120"/>
            <a:ext cx="39319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Téléchargement automatique des pilotes signés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06440"/>
            <a:ext cx="18288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219456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Communauté Linux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5806440"/>
            <a:ext cx="39319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Modules kernel (.ko) ou paquets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960120"/>
            <a:ext cx="4572000" cy="4247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Schéma — où s'insère le pilote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1417320"/>
            <a:ext cx="4572000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7315200" y="1655129"/>
            <a:ext cx="4572000" cy="3016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Application (Word, Photoshop)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200" y="2212848"/>
            <a:ext cx="0" cy="118872"/>
          </a:xfrm>
          <a:prstGeom prst="line">
            <a:avLst/>
          </a:prstGeom>
          <a:ln w="25400">
            <a:solidFill>
              <a:srgbClr val="B88A3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315200" y="2331720"/>
            <a:ext cx="4572000" cy="777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7315200" y="2569529"/>
            <a:ext cx="4572000" cy="3016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API du SE (print API)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01200" y="3127248"/>
            <a:ext cx="0" cy="118872"/>
          </a:xfrm>
          <a:prstGeom prst="line">
            <a:avLst/>
          </a:prstGeom>
          <a:ln w="25400">
            <a:solidFill>
              <a:srgbClr val="B88A3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315200" y="3246120"/>
            <a:ext cx="4572000" cy="7772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7315200" y="3483929"/>
            <a:ext cx="4572000" cy="3016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PILOTE du périphérique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01200" y="4041648"/>
            <a:ext cx="0" cy="118872"/>
          </a:xfrm>
          <a:prstGeom prst="line">
            <a:avLst/>
          </a:prstGeom>
          <a:ln w="25400">
            <a:solidFill>
              <a:srgbClr val="B88A3F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315200" y="4160520"/>
            <a:ext cx="4572000" cy="77724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7315200" y="4398329"/>
            <a:ext cx="4572000" cy="3016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Périphérique physique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Times New Roman"/>
              </a:rPr>
              <a:t>La documentation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Structure d'un manuel de périphérique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Structure type d'une documentation technique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60939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0" i="1">
                <a:solidFill>
                  <a:srgbClr val="6B6B6B"/>
                </a:solidFill>
                <a:latin typeface="Calibri"/>
              </a:rPr>
              <a:t>Un manuel professionnel suit toujours une structure standard. Apprendre à la scanner rapidement = gain de temps énorme.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24688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548640" y="1579302"/>
            <a:ext cx="237744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alibri"/>
              </a:rPr>
              <a:t>1. Page de garde / Couverture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1508760"/>
            <a:ext cx="30175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3063240" y="1494664"/>
            <a:ext cx="2926080" cy="39395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Marque, modèle, version du manuel, date. Permet de vérifier qu'on a le bon manuel.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08760"/>
            <a:ext cx="24688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6309360" y="1579302"/>
            <a:ext cx="237744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alibri"/>
              </a:rPr>
              <a:t>2. Table des matières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32520" y="1508760"/>
            <a:ext cx="30175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8823960" y="1494664"/>
            <a:ext cx="2926080" cy="39395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À consulter EN PREMIER. Permet de sauter aux sections utiles directement.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92808"/>
            <a:ext cx="24688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548640" y="1963350"/>
            <a:ext cx="237744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alibri"/>
              </a:rPr>
              <a:t>3. Sécurité et précautions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1892808"/>
            <a:ext cx="30175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3063240" y="1878712"/>
            <a:ext cx="2926080" cy="39395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Avertissements électriques, manipulation, transport. À LIRE OBLIGATOIREMENT.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92808"/>
            <a:ext cx="24688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309360" y="1963350"/>
            <a:ext cx="237744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alibri"/>
              </a:rPr>
              <a:t>4. Contenu de la boîte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892808"/>
            <a:ext cx="30175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8823960" y="1878712"/>
            <a:ext cx="2926080" cy="39395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Vérifier que rien ne manque. Câbles, cartouches, vis, supports…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276856"/>
            <a:ext cx="24688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548640" y="2347398"/>
            <a:ext cx="237744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alibri"/>
              </a:rPr>
              <a:t>5. Spécifications techniques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2276856"/>
            <a:ext cx="30175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3063240" y="2262760"/>
            <a:ext cx="2926080" cy="39395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Dimensions, poids, alimentation, ports, débits, résolution, formats supportés.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276856"/>
            <a:ext cx="24688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6309360" y="2262760"/>
            <a:ext cx="2377440" cy="39395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alibri"/>
              </a:rPr>
              <a:t>6. Configuration minimale requise (system requirements)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20" y="2276856"/>
            <a:ext cx="30175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8823960" y="2262760"/>
            <a:ext cx="2926080" cy="39395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SE compatibles, RAM mini, espace disque, version USB, etc. CRUCIAL avant achat.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660904"/>
            <a:ext cx="24688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548640" y="2731446"/>
            <a:ext cx="237744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alibri"/>
              </a:rPr>
              <a:t>7. Schéma d'identification des parties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2660904"/>
            <a:ext cx="30175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3063240" y="2646808"/>
            <a:ext cx="2926080" cy="39395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Vue éclatée avec numérotation des éléments (port USB, bouton, voyant…).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660904"/>
            <a:ext cx="24688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6309360" y="2731446"/>
            <a:ext cx="237744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alibri"/>
              </a:rPr>
              <a:t>8. Procédure d'installation pas à pas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20" y="2660904"/>
            <a:ext cx="30175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8823960" y="2646808"/>
            <a:ext cx="2926080" cy="39395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Étapes ordonnées avec captures d'écran. À suivre dans l'ordre.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44952"/>
            <a:ext cx="24688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548640" y="3115494"/>
            <a:ext cx="237744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alibri"/>
              </a:rPr>
              <a:t>9. Configuration et paramétrage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71800" y="3044952"/>
            <a:ext cx="30175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0" name="TextBox 39"/>
          <p:cNvSpPr txBox="1"/>
          <p:nvPr/>
        </p:nvSpPr>
        <p:spPr>
          <a:xfrm>
            <a:off x="3063240" y="3030856"/>
            <a:ext cx="2926080" cy="39395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Options à régler après installation : qualité d'impression, résolution, etc.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044952"/>
            <a:ext cx="24688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2" name="TextBox 41"/>
          <p:cNvSpPr txBox="1"/>
          <p:nvPr/>
        </p:nvSpPr>
        <p:spPr>
          <a:xfrm>
            <a:off x="6309360" y="3115494"/>
            <a:ext cx="237744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alibri"/>
              </a:rPr>
              <a:t>10. Dépannage (troubleshooting)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20" y="3044952"/>
            <a:ext cx="30175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4" name="TextBox 43"/>
          <p:cNvSpPr txBox="1"/>
          <p:nvPr/>
        </p:nvSpPr>
        <p:spPr>
          <a:xfrm>
            <a:off x="8823960" y="3030856"/>
            <a:ext cx="2926080" cy="39395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Tableau symptôme → cause → solution. Sauveur en cas de problème.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429000"/>
            <a:ext cx="24688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6" name="TextBox 45"/>
          <p:cNvSpPr txBox="1"/>
          <p:nvPr/>
        </p:nvSpPr>
        <p:spPr>
          <a:xfrm>
            <a:off x="548640" y="3499542"/>
            <a:ext cx="237744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alibri"/>
              </a:rPr>
              <a:t>11. Spécifications environnementales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71800" y="3429000"/>
            <a:ext cx="30175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8" name="TextBox 47"/>
          <p:cNvSpPr txBox="1"/>
          <p:nvPr/>
        </p:nvSpPr>
        <p:spPr>
          <a:xfrm>
            <a:off x="3063240" y="3414904"/>
            <a:ext cx="2926080" cy="39395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Température, humidité, consommation, certifications (CE, RoHS, Energy Star).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429000"/>
            <a:ext cx="246888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0" name="TextBox 49"/>
          <p:cNvSpPr txBox="1"/>
          <p:nvPr/>
        </p:nvSpPr>
        <p:spPr>
          <a:xfrm>
            <a:off x="6309360" y="3499542"/>
            <a:ext cx="237744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alibri"/>
              </a:rPr>
              <a:t>12. Garantie et SAV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32520" y="3429000"/>
            <a:ext cx="3017520" cy="36576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2" name="TextBox 51"/>
          <p:cNvSpPr txBox="1"/>
          <p:nvPr/>
        </p:nvSpPr>
        <p:spPr>
          <a:xfrm>
            <a:off x="8823960" y="3414904"/>
            <a:ext cx="2926080" cy="39395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Durée, conditions, contacts du fabricant pour assistance technique.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Picture 53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Times New Roman"/>
              </a:rPr>
              <a:t>Interpréter une documentation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Décodage des spécifications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Exemple — lire les spécifications d'une imprimante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33239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0" i="1">
                <a:solidFill>
                  <a:srgbClr val="6B6B6B"/>
                </a:solidFill>
                <a:latin typeface="Calibri"/>
              </a:rPr>
              <a:t>Décortiquer une fiche technique : exemple HP LaserJet Pro M404dn.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99040"/>
            <a:ext cx="320040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Calibri"/>
              </a:rPr>
              <a:t>Technologie d'impression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508760"/>
            <a:ext cx="2743200" cy="37490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3749039" y="1576180"/>
            <a:ext cx="265176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D2AB67"/>
                </a:solidFill>
                <a:latin typeface="Consolas"/>
              </a:rPr>
              <a:t>Laser monochrome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83874"/>
            <a:ext cx="521208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→ Toner (pas d'encre liquide). Plus rapide et économique pour gros volumes.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37952"/>
            <a:ext cx="320040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Calibri"/>
              </a:rPr>
              <a:t>Vitesse d'impression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947672"/>
            <a:ext cx="2743200" cy="37490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3749039" y="2015092"/>
            <a:ext cx="265176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D2AB67"/>
                </a:solidFill>
                <a:latin typeface="Consolas"/>
              </a:rPr>
              <a:t>40 ppm (pages/minute) A4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22786"/>
            <a:ext cx="521208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→ Élevé. Adapté pour bureau avec gros volumes.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76864"/>
            <a:ext cx="320040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Calibri"/>
              </a:rPr>
              <a:t>Résolution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386584"/>
            <a:ext cx="2743200" cy="37490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3749039" y="2454004"/>
            <a:ext cx="265176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D2AB67"/>
                </a:solidFill>
                <a:latin typeface="Consolas"/>
              </a:rPr>
              <a:t>1200 × 1200 dpi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61698"/>
            <a:ext cx="521208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→ Très bonne qualité de texte. Suffisant pour documents pro.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915776"/>
            <a:ext cx="320040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Calibri"/>
              </a:rPr>
              <a:t>Cycle d'utilisation mensuel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825496"/>
            <a:ext cx="2743200" cy="37490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3749039" y="2892916"/>
            <a:ext cx="265176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D2AB67"/>
                </a:solidFill>
                <a:latin typeface="Consolas"/>
              </a:rPr>
              <a:t>80 000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00610"/>
            <a:ext cx="521208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→ Capacité maximale. Ne pas dépasser ou usure accélérée.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354688"/>
            <a:ext cx="320040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Calibri"/>
              </a:rPr>
              <a:t>Connectivité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3264408"/>
            <a:ext cx="2743200" cy="37490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3749039" y="3239494"/>
            <a:ext cx="2651760" cy="4247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D2AB67"/>
                </a:solidFill>
                <a:latin typeface="Consolas"/>
              </a:rPr>
              <a:t>USB 2.0, Ethernet 10/100, Wi-Fi (option)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339522"/>
            <a:ext cx="521208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→ Permet réseau partagé bureau. Pas de Wi-Fi natif sur ce modèle.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93600"/>
            <a:ext cx="320040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Calibri"/>
              </a:rPr>
              <a:t>Capacité bac papier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703320"/>
            <a:ext cx="2743200" cy="37490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3749039" y="3770740"/>
            <a:ext cx="265176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D2AB67"/>
                </a:solidFill>
                <a:latin typeface="Consolas"/>
              </a:rPr>
              <a:t>350 feuilles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778434"/>
            <a:ext cx="521208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→ Bac 1 (250) + Bac MP (100). Adapté pour gros volume.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32512"/>
            <a:ext cx="320040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Calibri"/>
              </a:rPr>
              <a:t>Mémoire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142232"/>
            <a:ext cx="2743200" cy="37490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3749039" y="4209652"/>
            <a:ext cx="265176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D2AB67"/>
                </a:solidFill>
                <a:latin typeface="Consolas"/>
              </a:rPr>
              <a:t>256 Mo 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217346"/>
            <a:ext cx="521208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→ Suffisant pour fichiers PDF complexes.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671424"/>
            <a:ext cx="320040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Calibri"/>
              </a:rPr>
              <a:t>Systèmes supportés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4581144"/>
            <a:ext cx="2743200" cy="37490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3749039" y="4556230"/>
            <a:ext cx="2651760" cy="4247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D2AB67"/>
                </a:solidFill>
                <a:latin typeface="Consolas"/>
              </a:rPr>
              <a:t>Windows 10/11, macOS 10.13+, Linux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656258"/>
            <a:ext cx="521208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→ Compatibilité maximale. Vérifier le pilote Linux disponible.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110336"/>
            <a:ext cx="320040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Calibri"/>
              </a:rPr>
              <a:t>Alimentation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5020056"/>
            <a:ext cx="2743200" cy="37490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3749039" y="5087476"/>
            <a:ext cx="265176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D2AB67"/>
                </a:solidFill>
                <a:latin typeface="Consolas"/>
              </a:rPr>
              <a:t>220-240 V, 50/60 Hz, max 950 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95170"/>
            <a:ext cx="521208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→ Brancher sur une prise standard. Pic à l'allumage.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549248"/>
            <a:ext cx="320040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1" i="0">
                <a:solidFill>
                  <a:srgbClr val="B88A3F"/>
                </a:solidFill>
                <a:latin typeface="Calibri"/>
              </a:rPr>
              <a:t>Dimensions / Poids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5458968"/>
            <a:ext cx="2743200" cy="374904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3" name="TextBox 42"/>
          <p:cNvSpPr txBox="1"/>
          <p:nvPr/>
        </p:nvSpPr>
        <p:spPr>
          <a:xfrm>
            <a:off x="3749039" y="5526388"/>
            <a:ext cx="265176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D2AB67"/>
                </a:solidFill>
                <a:latin typeface="Consolas"/>
              </a:rPr>
              <a:t>381 × 357 × 232 mm  |  8,7 kg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534082"/>
            <a:ext cx="521208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→ Compact pour un laser. Bureau standard suffit.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imes New Roman"/>
              </a:rPr>
              <a:t>Vérifier la configuration minimale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Pas de surprise après achat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Check-list de compatibilité AVANT achat / installation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33239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0" i="1">
                <a:solidFill>
                  <a:srgbClr val="6B6B6B"/>
                </a:solidFill>
                <a:latin typeface="Calibri"/>
              </a:rPr>
              <a:t>Avant d'investir, vérifier systématiquement ces 8 points.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200400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548640" y="1563689"/>
            <a:ext cx="3108960" cy="3016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✓ Système d'exploitation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417320"/>
            <a:ext cx="800100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3840480" y="1579079"/>
            <a:ext cx="781812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Le pilote existe-t-il pour Windows 11 ? Linux ? macOS ARM ? Vérifier sur le site fabricant.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29968"/>
            <a:ext cx="3200400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548640" y="2176337"/>
            <a:ext cx="3108960" cy="3016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✓ Architecture CPU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2029968"/>
            <a:ext cx="800100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3840480" y="2191727"/>
            <a:ext cx="781812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x86_64 ? ARM (Apple Silicon, Snapdragon) ? Certains pilotes propriétaires sont x86 uniquement.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42616"/>
            <a:ext cx="3200400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548640" y="2788985"/>
            <a:ext cx="3108960" cy="3016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✓ Version du 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2642616"/>
            <a:ext cx="800100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3840480" y="2804375"/>
            <a:ext cx="781812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Windows 10 22H2 minimum ? macOS 12+ ? Ubuntu 22.04 LTS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55264"/>
            <a:ext cx="3200400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548640" y="3401633"/>
            <a:ext cx="3108960" cy="3016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✓ Port disponible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255264"/>
            <a:ext cx="800100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3840480" y="3417023"/>
            <a:ext cx="781812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Avez-vous un port USB-A libre ? USB-C ? RJ45 Ethernet ? Bluetooth 5.0 ? HDMI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67912"/>
            <a:ext cx="3200400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548640" y="4014281"/>
            <a:ext cx="3108960" cy="3016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✓ Espace disque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3867912"/>
            <a:ext cx="800100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3840480" y="4029671"/>
            <a:ext cx="781812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Combien d'espace requiert le logiciel d'accompagnement ? Souvent 500 Mo à 2 Go.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80560"/>
            <a:ext cx="3200400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548640" y="4626929"/>
            <a:ext cx="3108960" cy="3016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✓ Mémoire RAM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4480560"/>
            <a:ext cx="800100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3840480" y="4642319"/>
            <a:ext cx="781812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Certains logiciels (scanner photo pro, montage vidéo) demandent 8-16 Go minimum.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93208"/>
            <a:ext cx="3200400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548640" y="5239577"/>
            <a:ext cx="3108960" cy="3016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✓ Alimentation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03320" y="5093208"/>
            <a:ext cx="800100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3840480" y="5254967"/>
            <a:ext cx="781812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Le périphérique nécessite-t-il une alimentation externe ? Quelle tension/puissance 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705856"/>
            <a:ext cx="3200400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5852225"/>
            <a:ext cx="3108960" cy="3016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✓ Connexion réseau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03320" y="5705856"/>
            <a:ext cx="8001000" cy="594360"/>
          </a:xfrm>
          <a:prstGeom prst="rect">
            <a:avLst/>
          </a:prstGeom>
          <a:solidFill>
            <a:srgbClr val="FAF5EC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0480" y="5867615"/>
            <a:ext cx="781812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Pour les imprimantes réseau : Wi-Fi 2.4 GHz / 5 GHz ? IPv4 / IPv6 ? Internet requis ?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Times New Roman"/>
              </a:rPr>
              <a:t>Méthodologie en 7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La marche à suivre universelle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Les 7 étapes d'une installation réussie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457200" y="1052852"/>
            <a:ext cx="457200" cy="363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0"/>
            <a:ext cx="10607040" cy="33239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>
                <a:solidFill>
                  <a:srgbClr val="B88A3F"/>
                </a:solidFill>
                <a:latin typeface="Times New Roman"/>
              </a:rPr>
              <a:t>Préparation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307592"/>
            <a:ext cx="1060704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Lire la doc, vérifier la check-list compatibilité, télécharger le pilote sur le site officiel.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755648"/>
            <a:ext cx="457200" cy="45720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457200" y="1802660"/>
            <a:ext cx="457200" cy="363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55648"/>
            <a:ext cx="10607040" cy="33239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>
                <a:solidFill>
                  <a:srgbClr val="B88A3F"/>
                </a:solidFill>
                <a:latin typeface="Times New Roman"/>
              </a:rPr>
              <a:t>Sauvegarde système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57400"/>
            <a:ext cx="1060704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Créer un point de restauration (Windows) ou snapshot (VM, BTRFS). Annuler en cas de problème.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57200" y="2552468"/>
            <a:ext cx="457200" cy="363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05456"/>
            <a:ext cx="10607040" cy="33239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>
                <a:solidFill>
                  <a:srgbClr val="B88A3F"/>
                </a:solidFill>
                <a:latin typeface="Times New Roman"/>
              </a:rPr>
              <a:t>Connexion physique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807208"/>
            <a:ext cx="1060704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Brancher câble USB/réseau, ou appairer Bluetooth. Vérifier que le périphérique s'allume.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255264"/>
            <a:ext cx="457200" cy="45720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457200" y="3302276"/>
            <a:ext cx="457200" cy="363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255264"/>
            <a:ext cx="10607040" cy="33239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>
                <a:solidFill>
                  <a:srgbClr val="B88A3F"/>
                </a:solidFill>
                <a:latin typeface="Times New Roman"/>
              </a:rPr>
              <a:t>Détection par le 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57016"/>
            <a:ext cx="1060704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Le SE détecte normalement le matériel et essaie d'installer un pilote générique.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005072"/>
            <a:ext cx="457200" cy="45720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457200" y="4052084"/>
            <a:ext cx="457200" cy="363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05072"/>
            <a:ext cx="10607040" cy="33239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>
                <a:solidFill>
                  <a:srgbClr val="B88A3F"/>
                </a:solidFill>
                <a:latin typeface="Times New Roman"/>
              </a:rPr>
              <a:t>Installation du pilote spécifique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06824"/>
            <a:ext cx="1060704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Exécuter l'installeur officiel (.exe / .deb / .rpm / .dmg). Suivre les étapes.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754880"/>
            <a:ext cx="457200" cy="45720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457200" y="4801892"/>
            <a:ext cx="457200" cy="363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754880"/>
            <a:ext cx="10607040" cy="33239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>
                <a:solidFill>
                  <a:srgbClr val="B88A3F"/>
                </a:solidFill>
                <a:latin typeface="Times New Roman"/>
              </a:rPr>
              <a:t>Configuration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056632"/>
            <a:ext cx="1060704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Régler les options (résolution, format papier, qualité, port…). Imprimer/scanner une page test.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504688"/>
            <a:ext cx="457200" cy="45720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457200" y="5551700"/>
            <a:ext cx="457200" cy="3631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504688"/>
            <a:ext cx="10607040" cy="33239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>
                <a:solidFill>
                  <a:srgbClr val="B88A3F"/>
                </a:solidFill>
                <a:latin typeface="Times New Roman"/>
              </a:rPr>
              <a:t>Test et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806440"/>
            <a:ext cx="10607040" cy="270843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Effectuer un cas réel d'utilisation. Documenter la procédure pour le futur (date, version pilote, options retenues).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Times New Roman"/>
              </a:rPr>
              <a:t>Installer et configurer le pilote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Sources, signatures, paramétrage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Installer un pilote — Windows vs Linux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960120"/>
            <a:ext cx="55321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37909"/>
            <a:ext cx="5532120" cy="3016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Sous Windows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532120" cy="457200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5349240" cy="39333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 dirty="0" err="1">
                <a:solidFill>
                  <a:srgbClr val="333333"/>
                </a:solidFill>
                <a:latin typeface="Calibri"/>
              </a:rPr>
              <a:t>Méthode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1 — Auto (Plug-and-Play) :</a:t>
            </a:r>
          </a:p>
          <a:p>
            <a:pPr algn="l"/>
            <a:r>
              <a:rPr sz="1400" b="0" i="0" dirty="0">
                <a:solidFill>
                  <a:srgbClr val="333333"/>
                </a:solidFill>
                <a:latin typeface="Calibri"/>
              </a:rPr>
              <a:t>  • 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Branchez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→ Windows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détecte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→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installe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le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pilote</a:t>
            </a:r>
            <a:endParaRPr sz="1400" b="0" i="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400" b="0" i="0" dirty="0">
                <a:solidFill>
                  <a:srgbClr val="333333"/>
                </a:solidFill>
                <a:latin typeface="Calibri"/>
              </a:rPr>
              <a:t>  •  Marche pour 80 % des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périphériques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courants.</a:t>
            </a:r>
          </a:p>
          <a:p>
            <a:pPr algn="l"/>
            <a:endParaRPr sz="1400" b="0" i="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400" b="0" i="0" dirty="0" err="1">
                <a:solidFill>
                  <a:srgbClr val="333333"/>
                </a:solidFill>
                <a:latin typeface="Calibri"/>
              </a:rPr>
              <a:t>Méthode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2 —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Pilote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officiel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:</a:t>
            </a:r>
          </a:p>
          <a:p>
            <a:pPr algn="l"/>
            <a:r>
              <a:rPr sz="1400" b="0" i="0" dirty="0">
                <a:solidFill>
                  <a:srgbClr val="333333"/>
                </a:solidFill>
                <a:latin typeface="Calibri"/>
              </a:rPr>
              <a:t>  • 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Téléchargez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le .exe sur le site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constructeur</a:t>
            </a:r>
            <a:endParaRPr sz="1400" b="0" i="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400" b="0" i="0" dirty="0">
                <a:solidFill>
                  <a:srgbClr val="333333"/>
                </a:solidFill>
                <a:latin typeface="Calibri"/>
              </a:rPr>
              <a:t>  •  Lancer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en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tant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qu'administrateur</a:t>
            </a:r>
            <a:endParaRPr sz="1400" b="0" i="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400" b="0" i="0" dirty="0">
                <a:solidFill>
                  <a:srgbClr val="333333"/>
                </a:solidFill>
                <a:latin typeface="Calibri"/>
              </a:rPr>
              <a:t>  • 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Suivre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l'assistant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(Next → Next → Finish)</a:t>
            </a:r>
          </a:p>
          <a:p>
            <a:pPr algn="l"/>
            <a:r>
              <a:rPr sz="1400" b="0" i="0" dirty="0">
                <a:solidFill>
                  <a:srgbClr val="333333"/>
                </a:solidFill>
                <a:latin typeface="Calibri"/>
              </a:rPr>
              <a:t>  • 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Redémarrer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si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demandé</a:t>
            </a:r>
            <a:endParaRPr sz="1400" b="0" i="0" dirty="0">
              <a:solidFill>
                <a:srgbClr val="333333"/>
              </a:solidFill>
              <a:latin typeface="Calibri"/>
            </a:endParaRPr>
          </a:p>
          <a:p>
            <a:pPr algn="l"/>
            <a:endParaRPr sz="1400" b="0" i="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400" b="0" i="0" dirty="0" err="1">
                <a:solidFill>
                  <a:srgbClr val="333333"/>
                </a:solidFill>
                <a:latin typeface="Calibri"/>
              </a:rPr>
              <a:t>Méthode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3 — Manuel (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avancé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) :</a:t>
            </a:r>
          </a:p>
          <a:p>
            <a:pPr algn="l"/>
            <a:r>
              <a:rPr sz="1400" b="0" i="0" dirty="0">
                <a:solidFill>
                  <a:srgbClr val="333333"/>
                </a:solidFill>
                <a:latin typeface="Calibri"/>
              </a:rPr>
              <a:t>  •  Win + X →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Gestionnaire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périphériques</a:t>
            </a:r>
            <a:endParaRPr sz="1400" b="0" i="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400" b="0" i="0" dirty="0">
                <a:solidFill>
                  <a:srgbClr val="333333"/>
                </a:solidFill>
                <a:latin typeface="Calibri"/>
              </a:rPr>
              <a:t>  • 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Clic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droit sur le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périphérique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→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Mettre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à jour le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pilote</a:t>
            </a:r>
            <a:endParaRPr sz="1400" b="0" i="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400" b="0" i="0" dirty="0">
                <a:solidFill>
                  <a:srgbClr val="333333"/>
                </a:solidFill>
                <a:latin typeface="Calibri"/>
              </a:rPr>
              <a:t>  • 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Parcourir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mon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ordinateur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→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choisir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le dossier du .inf</a:t>
            </a:r>
          </a:p>
          <a:p>
            <a:pPr algn="l"/>
            <a:endParaRPr sz="1400" b="0" i="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400" b="0" i="0" dirty="0" err="1">
                <a:solidFill>
                  <a:srgbClr val="333333"/>
                </a:solidFill>
                <a:latin typeface="Calibri"/>
              </a:rPr>
              <a:t>Vérifier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après installation :</a:t>
            </a:r>
          </a:p>
          <a:p>
            <a:pPr algn="l"/>
            <a:r>
              <a:rPr sz="1400" b="0" i="0" dirty="0">
                <a:solidFill>
                  <a:srgbClr val="333333"/>
                </a:solidFill>
                <a:latin typeface="Calibri"/>
              </a:rPr>
              <a:t>  •  Pas de point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d'exclamation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jaune</a:t>
            </a:r>
          </a:p>
          <a:p>
            <a:pPr algn="l"/>
            <a:r>
              <a:rPr sz="1400" b="0" i="0" dirty="0">
                <a:solidFill>
                  <a:srgbClr val="333333"/>
                </a:solidFill>
                <a:latin typeface="Calibri"/>
              </a:rPr>
              <a:t>  •  Onglet '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Détails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' → 'Date du </a:t>
            </a:r>
            <a:r>
              <a:rPr sz="1400" b="0" i="0" dirty="0" err="1">
                <a:solidFill>
                  <a:srgbClr val="333333"/>
                </a:solidFill>
                <a:latin typeface="Calibri"/>
              </a:rPr>
              <a:t>pilote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'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60120"/>
            <a:ext cx="553212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037909"/>
            <a:ext cx="5532120" cy="301621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Sous Linux (Ubuntu)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532120" cy="4572000"/>
          </a:xfrm>
          <a:prstGeom prst="roundRect">
            <a:avLst>
              <a:gd name="adj" fmla="val 10000"/>
            </a:avLst>
          </a:prstGeom>
          <a:solidFill>
            <a:srgbClr val="FAF5EC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508760"/>
            <a:ext cx="5349240" cy="41488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Méthode 1 — Inclus dans le kernel :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  •  90 % des périphériques fonctionnent à la connexion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  •  Vérifier avec lsusb, lspci, dmesg</a:t>
            </a:r>
          </a:p>
          <a:p>
            <a:pPr algn="l"/>
            <a:endParaRPr sz="14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Méthode 2 — Pilote propriétaire (NVIDIA, broadcom) :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  sudo apt install nvidia-driver-535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  sudo apt install firmware-iwlwifi</a:t>
            </a:r>
          </a:p>
          <a:p>
            <a:pPr algn="l"/>
            <a:endParaRPr sz="14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Méthode 3 — Imprimantes :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  sudo apt install cups system-config-printer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  Ajouter via http://localhost:631/</a:t>
            </a:r>
          </a:p>
          <a:p>
            <a:pPr algn="l"/>
            <a:endParaRPr sz="14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Méthode 4 — Pilote du fabricant :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  Télécharger un .deb (Debian/Ubuntu) ou .rpm (Fedora)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  sudo dpkg -i pilote.deb</a:t>
            </a:r>
          </a:p>
          <a:p>
            <a:pPr algn="l"/>
            <a:endParaRPr sz="14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Vérifier :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  dmesg | tail -20         (messages noyau)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  lsmod | grep &lt;nom&gt;       (module chargé ?)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Times New Roman"/>
              </a:rPr>
              <a:t>Diagnostic et dépannage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Quand un périphérique ne marche pas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Tableau de diagnostic — symptômes / causes / solutions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005840"/>
            <a:ext cx="3108960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457200" y="1045380"/>
            <a:ext cx="3108960" cy="33239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Symptôme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005840"/>
            <a:ext cx="3657600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3566160" y="1045380"/>
            <a:ext cx="3657600" cy="33239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Causes probables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005840"/>
            <a:ext cx="4937760" cy="411480"/>
          </a:xfrm>
          <a:prstGeom prst="rect">
            <a:avLst/>
          </a:prstGeom>
          <a:solidFill>
            <a:srgbClr val="B8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7223760" y="1045380"/>
            <a:ext cx="4937760" cy="33239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Solutions à essayer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3108960" cy="54864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548640" y="1571608"/>
            <a:ext cx="292608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Le périphérique n'est pas détecté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417320"/>
            <a:ext cx="3657600" cy="54864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3657600" y="1571608"/>
            <a:ext cx="347472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Câble défaut, port HS, alim absente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417320"/>
            <a:ext cx="4937760" cy="54864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7315200" y="1571608"/>
            <a:ext cx="475488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1. Essayer un autre câble/port  2. Tester sur autre PC  3. Vérifier alim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6596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548640" y="2120248"/>
            <a:ext cx="292608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Détecté mais pilote non installé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1965960"/>
            <a:ext cx="3657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3657600" y="2120248"/>
            <a:ext cx="347472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Pilote manquant ou incompatible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1965960"/>
            <a:ext cx="4937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7315200" y="2120248"/>
            <a:ext cx="475488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Télécharger pilote officiel constructeur, vérifier version 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14600"/>
            <a:ext cx="3108960" cy="54864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548640" y="2668888"/>
            <a:ext cx="292608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Point d'exclamation jaune dans Gest. Périph.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2514600"/>
            <a:ext cx="3657600" cy="54864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3657600" y="2668888"/>
            <a:ext cx="347472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Pilote installé mais erreur (driver corrompu)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2514600"/>
            <a:ext cx="4937760" cy="54864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7315200" y="2668888"/>
            <a:ext cx="475488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Désinstaller + redémarrer + réinstaller pilote dernier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06324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548640" y="3217528"/>
            <a:ext cx="292608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Périphérique fonctionne par intermittence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3063240"/>
            <a:ext cx="3657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3657600" y="3217528"/>
            <a:ext cx="347472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Câble défectueux, port USB faible, pilote bugué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3063240"/>
            <a:ext cx="4937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7315200" y="3217528"/>
            <a:ext cx="475488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Remplacer câble, port arrière du PC (alimentation directe), MAJ pilote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611880"/>
            <a:ext cx="3108960" cy="54864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548640" y="3766168"/>
            <a:ext cx="292608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Imprimante affiche 'hors ligne'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3611880"/>
            <a:ext cx="3657600" cy="54864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TextBox 36"/>
          <p:cNvSpPr txBox="1"/>
          <p:nvPr/>
        </p:nvSpPr>
        <p:spPr>
          <a:xfrm>
            <a:off x="3657600" y="3766168"/>
            <a:ext cx="347472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Réseau perdu, IP changée, file bloquée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3611880"/>
            <a:ext cx="4937760" cy="54864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7315200" y="3766168"/>
            <a:ext cx="475488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Redémarrer imprimante, vérifier IP statique, vider la file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16052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1" name="TextBox 40"/>
          <p:cNvSpPr txBox="1"/>
          <p:nvPr/>
        </p:nvSpPr>
        <p:spPr>
          <a:xfrm>
            <a:off x="548640" y="4314808"/>
            <a:ext cx="292608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Audio absent après mise à jour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4160520"/>
            <a:ext cx="3657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3" name="TextBox 42"/>
          <p:cNvSpPr txBox="1"/>
          <p:nvPr/>
        </p:nvSpPr>
        <p:spPr>
          <a:xfrm>
            <a:off x="3657600" y="4314808"/>
            <a:ext cx="347472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Pilote audio écrasé par Windows Update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4160520"/>
            <a:ext cx="4937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TextBox 44"/>
          <p:cNvSpPr txBox="1"/>
          <p:nvPr/>
        </p:nvSpPr>
        <p:spPr>
          <a:xfrm>
            <a:off x="7315200" y="4314808"/>
            <a:ext cx="475488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Gest. Périph. → Sons → MAJ pilote, ou réinstaller pilote Realtek/Intel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709160"/>
            <a:ext cx="3108960" cy="54864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7" name="TextBox 46"/>
          <p:cNvSpPr txBox="1"/>
          <p:nvPr/>
        </p:nvSpPr>
        <p:spPr>
          <a:xfrm>
            <a:off x="548640" y="4863448"/>
            <a:ext cx="292608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Le PC plante avec le périphérique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4709160"/>
            <a:ext cx="3657600" cy="54864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9" name="TextBox 48"/>
          <p:cNvSpPr txBox="1"/>
          <p:nvPr/>
        </p:nvSpPr>
        <p:spPr>
          <a:xfrm>
            <a:off x="3657600" y="4863448"/>
            <a:ext cx="347472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Conflit ressources IRQ / pilote instable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760" y="4709160"/>
            <a:ext cx="4937760" cy="548640"/>
          </a:xfrm>
          <a:prstGeom prst="rect">
            <a:avLst/>
          </a:prstGeom>
          <a:solidFill>
            <a:srgbClr val="FAF5EC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1" name="TextBox 50"/>
          <p:cNvSpPr txBox="1"/>
          <p:nvPr/>
        </p:nvSpPr>
        <p:spPr>
          <a:xfrm>
            <a:off x="7315200" y="4863448"/>
            <a:ext cx="475488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Tester en mode sans échec, MAJ BIOS et pilote, contacter SAV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257800"/>
            <a:ext cx="3108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3" name="TextBox 52"/>
          <p:cNvSpPr txBox="1"/>
          <p:nvPr/>
        </p:nvSpPr>
        <p:spPr>
          <a:xfrm>
            <a:off x="548640" y="5412088"/>
            <a:ext cx="292608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Bluetooth ne fonctionne plus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66160" y="5257800"/>
            <a:ext cx="3657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5" name="TextBox 54"/>
          <p:cNvSpPr txBox="1"/>
          <p:nvPr/>
        </p:nvSpPr>
        <p:spPr>
          <a:xfrm>
            <a:off x="3657600" y="5412088"/>
            <a:ext cx="347472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Service Bluetooth désactivé, conflit Wi-Fi 2.4 GHz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23760" y="5257800"/>
            <a:ext cx="4937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7" name="TextBox 56"/>
          <p:cNvSpPr txBox="1"/>
          <p:nvPr/>
        </p:nvSpPr>
        <p:spPr>
          <a:xfrm>
            <a:off x="7315200" y="5412088"/>
            <a:ext cx="4754880" cy="24006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Services Win → activer 'Bluetooth Support', vérifier antenne Wi-Fi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Outils de diagnostic à connaître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5486400" cy="33239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>
                <a:solidFill>
                  <a:srgbClr val="B88A3F"/>
                </a:solidFill>
                <a:latin typeface="Times New Roman"/>
              </a:rPr>
              <a:t>Sous Windows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37744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548640" y="1403223"/>
            <a:ext cx="2286000" cy="39395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onsolas"/>
              </a:rPr>
              <a:t>Gestionnaire de périphériques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487862"/>
            <a:ext cx="30175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devmgmt.msc — voir tous les pilotes + alertes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37744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548640" y="1899342"/>
            <a:ext cx="228600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onsolas"/>
              </a:rPr>
              <a:t>Observateur d'événements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99342"/>
            <a:ext cx="30175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 dirty="0" err="1">
                <a:solidFill>
                  <a:srgbClr val="333333"/>
                </a:solidFill>
                <a:latin typeface="Calibri"/>
              </a:rPr>
              <a:t>eventvwr</a:t>
            </a:r>
            <a:r>
              <a:rPr sz="1100" b="0" i="0" dirty="0">
                <a:solidFill>
                  <a:srgbClr val="333333"/>
                </a:solidFill>
                <a:latin typeface="Calibri"/>
              </a:rPr>
              <a:t> — logs </a:t>
            </a:r>
            <a:r>
              <a:rPr sz="1100" b="0" i="0" dirty="0" err="1">
                <a:solidFill>
                  <a:srgbClr val="333333"/>
                </a:solidFill>
                <a:latin typeface="Calibri"/>
              </a:rPr>
              <a:t>système</a:t>
            </a:r>
            <a:r>
              <a:rPr sz="1100" b="0" i="0" dirty="0">
                <a:solidFill>
                  <a:srgbClr val="333333"/>
                </a:solidFill>
                <a:latin typeface="Calibri"/>
              </a:rPr>
              <a:t> et </a:t>
            </a:r>
            <a:r>
              <a:rPr sz="1100" b="0" i="0" dirty="0" err="1">
                <a:solidFill>
                  <a:srgbClr val="333333"/>
                </a:solidFill>
                <a:latin typeface="Calibri"/>
              </a:rPr>
              <a:t>erreurs</a:t>
            </a:r>
            <a:endParaRPr sz="11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237744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548640" y="2310822"/>
            <a:ext cx="228600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onsolas"/>
              </a:rPr>
              <a:t>Informations système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310822"/>
            <a:ext cx="30175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msinfo32 — récapitulatif matériel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237744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548640" y="2722302"/>
            <a:ext cx="228600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onsolas"/>
              </a:rPr>
              <a:t>PowerShell : Get-PnpDevice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722302"/>
            <a:ext cx="30175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Lister tous les périphériques détectés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63240"/>
            <a:ext cx="237744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548640" y="3133782"/>
            <a:ext cx="228600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onsolas"/>
              </a:rPr>
              <a:t>Mode sans échec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133782"/>
            <a:ext cx="30175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F8 ou Shift+Redémarrer — isoler problème pilote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237744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548640" y="3545262"/>
            <a:ext cx="228600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onsolas"/>
              </a:rPr>
              <a:t>Windows Memory Diagnostic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45262"/>
            <a:ext cx="30175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mdsched — tester la 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960120"/>
            <a:ext cx="5486400" cy="33239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>
                <a:solidFill>
                  <a:srgbClr val="B88A3F"/>
                </a:solidFill>
                <a:latin typeface="Times New Roman"/>
              </a:rPr>
              <a:t>Sous Linux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417320"/>
            <a:ext cx="237744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6492240" y="1487862"/>
            <a:ext cx="228600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onsolas"/>
              </a:rPr>
              <a:t>lsusb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1487862"/>
            <a:ext cx="30175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Périphériques USB connectés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828800"/>
            <a:ext cx="237744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6492240" y="1899342"/>
            <a:ext cx="228600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onsolas"/>
              </a:rPr>
              <a:t>lspci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1899342"/>
            <a:ext cx="30175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Cartes PCI / PCIe (GPU, réseau)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240280"/>
            <a:ext cx="237744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6492240" y="2310822"/>
            <a:ext cx="228600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onsolas"/>
              </a:rPr>
              <a:t>lsblk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310822"/>
            <a:ext cx="30175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Disques et partitions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651760"/>
            <a:ext cx="237744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TextBox 33"/>
          <p:cNvSpPr txBox="1"/>
          <p:nvPr/>
        </p:nvSpPr>
        <p:spPr>
          <a:xfrm>
            <a:off x="6492240" y="2722302"/>
            <a:ext cx="228600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onsolas"/>
              </a:rPr>
              <a:t>dmesg | tail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2722302"/>
            <a:ext cx="30175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Derniers messages du noyau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063240"/>
            <a:ext cx="237744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6492240" y="3133782"/>
            <a:ext cx="228600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onsolas"/>
              </a:rPr>
              <a:t>lshw -short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133782"/>
            <a:ext cx="30175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Liste matérielle complète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474720"/>
            <a:ext cx="2377440" cy="36576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0" name="TextBox 39"/>
          <p:cNvSpPr txBox="1"/>
          <p:nvPr/>
        </p:nvSpPr>
        <p:spPr>
          <a:xfrm>
            <a:off x="6492240" y="3545262"/>
            <a:ext cx="228600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>
                <a:solidFill>
                  <a:srgbClr val="D2AB67"/>
                </a:solidFill>
                <a:latin typeface="Consolas"/>
              </a:rPr>
              <a:t>journalctl -k -p err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3545262"/>
            <a:ext cx="3017520" cy="224677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Erreurs noyau récentes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389120"/>
            <a:ext cx="11247120" cy="1920240"/>
          </a:xfrm>
          <a:prstGeom prst="roundRect">
            <a:avLst>
              <a:gd name="adj" fmla="val 10000"/>
            </a:avLst>
          </a:prstGeom>
          <a:solidFill>
            <a:srgbClr val="F7ECD0"/>
          </a:solidFill>
          <a:ln w="9525">
            <a:solidFill>
              <a:srgbClr val="D2A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4434840"/>
            <a:ext cx="10972800" cy="332399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i="0">
                <a:solidFill>
                  <a:srgbClr val="B88A3F"/>
                </a:solidFill>
                <a:latin typeface="Times New Roman"/>
              </a:rPr>
              <a:t>Méthodologie de dépannage en 5 étapes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754880"/>
            <a:ext cx="10972800" cy="113261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1. REPRODUIRE le problème de façon fiable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2. ISOLER : autre PC ? autre port ? autre câble ?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3. CONSULTER les logs (Observateur ou dmesg)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4. CHERCHER l'erreur exacte sur Google + site fabricant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5. TESTER une solution à la fois (sinon on ne sait pas ce qui marche)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457200" cy="54864"/>
          </a:xfrm>
          <a:prstGeom prst="rect">
            <a:avLst/>
          </a:prstGeom>
          <a:solidFill>
            <a:srgbClr val="D2AB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0" i="1">
                <a:solidFill>
                  <a:srgbClr val="D2AB67"/>
                </a:solidFill>
                <a:latin typeface="Times New Roman"/>
              </a:rPr>
              <a:t>Atelier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Times New Roman"/>
              </a:rPr>
              <a:t>Installation d'une imprimante réseau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1">
                <a:solidFill>
                  <a:srgbClr val="D2AB67"/>
                </a:solidFill>
                <a:latin typeface="Calibri"/>
              </a:rPr>
              <a:t>Cas pratique complet — méthode 7 étapes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Atelier — installer une imprimante HP réseau pas-à-pas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Durée : 1 h 30  |  Mode : binôme  |  Niveau : pratique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47120" cy="4937760"/>
          </a:xfrm>
          <a:prstGeom prst="roundRect">
            <a:avLst>
              <a:gd name="adj" fmla="val 10000"/>
            </a:avLst>
          </a:prstGeom>
          <a:solidFill>
            <a:srgbClr val="2C2A26"/>
          </a:solidFill>
          <a:ln w="9525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4846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ÉTAPE 1 — Préparation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Récupérer le manuel HP LaserJet sur hp.com/support → modèle exact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Lire les sections : sécurité, contenu boîte, spécifications, installation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Télécharger le pilote pour Windows 11 (.exe) ou Linux (.deb)</a:t>
            </a:r>
          </a:p>
          <a:p>
            <a:pPr algn="l"/>
            <a:endParaRPr sz="900" b="0" i="0">
              <a:solidFill>
                <a:srgbClr val="D2AB67"/>
              </a:solidFill>
              <a:latin typeface="Consolas"/>
            </a:endParaRP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ÉTAPE 2 — Sauvegarde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Windows : Panneau de configuration → Système → Point de restauration</a:t>
            </a:r>
          </a:p>
          <a:p>
            <a:pPr algn="l"/>
            <a:endParaRPr sz="900" b="0" i="0">
              <a:solidFill>
                <a:srgbClr val="D2AB67"/>
              </a:solidFill>
              <a:latin typeface="Consolas"/>
            </a:endParaRP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ÉTAPE 3 — Connexion physique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Sortir l'imprimante, retirer rubans/cales, installer toner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Brancher RJ45 sur le réseau, alimentation 220V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Allumer → imprimer page de config (menu interne) → noter l'IP</a:t>
            </a:r>
          </a:p>
          <a:p>
            <a:pPr algn="l"/>
            <a:endParaRPr sz="900" b="0" i="0">
              <a:solidFill>
                <a:srgbClr val="D2AB67"/>
              </a:solidFill>
              <a:latin typeface="Consolas"/>
            </a:endParaRP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ÉTAPE 4 — Détection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Windows : Paramètres → Imprimantes → Ajouter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→ 'L'imprimante n'apparaît pas' → 'Ajouter avec adresse IP'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Linux : http://localhost:631 → Add Printer → IPP</a:t>
            </a:r>
          </a:p>
          <a:p>
            <a:pPr algn="l"/>
            <a:endParaRPr sz="900" b="0" i="0">
              <a:solidFill>
                <a:srgbClr val="D2AB67"/>
              </a:solidFill>
              <a:latin typeface="Consolas"/>
            </a:endParaRP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ÉTAPE 5 — Installation du pilote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Lancer HP_Smart_Install.exe (Windows)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OU : sudo apt install hplip hplip-gui ; hp-setup -i</a:t>
            </a:r>
          </a:p>
          <a:p>
            <a:pPr algn="l"/>
            <a:endParaRPr sz="900" b="0" i="0">
              <a:solidFill>
                <a:srgbClr val="D2AB67"/>
              </a:solidFill>
              <a:latin typeface="Consolas"/>
            </a:endParaRP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ÉTAPE 6 — Configuration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Imprimante par défaut : Oui/Non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Mode économie d'encre/toner : activer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Format papier : A4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Recto-verso automatique : activer</a:t>
            </a:r>
          </a:p>
          <a:p>
            <a:pPr algn="l"/>
            <a:endParaRPr sz="900" b="0" i="0">
              <a:solidFill>
                <a:srgbClr val="D2AB67"/>
              </a:solidFill>
              <a:latin typeface="Consolas"/>
            </a:endParaRP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ÉTAPE 7 — Test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Imprimer la page de test Windows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Vérifier la qualité, l'alignement, les couleurs</a:t>
            </a:r>
          </a:p>
          <a:p>
            <a:pPr algn="l"/>
            <a:r>
              <a:rPr sz="900" b="0" i="0">
                <a:solidFill>
                  <a:srgbClr val="D2AB67"/>
                </a:solidFill>
                <a:latin typeface="Consolas"/>
              </a:rPr>
              <a:t># Documenter : modèle, IP, pilote version, options retenues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Synthèse globale du chapitre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457200" y="103327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332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3327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Périphériques : 4 grandes catégories — entrée, sortie, stockage, communication.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53619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Le PILOTE (driver) est le pont entre le SE et le matériel.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03911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0391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3911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Sources des pilotes : intégré au SE, site fabricant, CD, Windows Update.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54203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5420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54203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Une doc technique a 12 sections types : page garde, spécifications, installation, dépannage…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04495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0449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04495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Spécifications : technologie, vitesse, résolution, ports, mémoire, alimentation, taille.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54787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5478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54787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Check-list compatibilité : SE, CPU, version, port, espace, RAM, alim, réseau.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05079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0507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05079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Méthodologie 7 étapes : préparation, sauvegarde, connexion, détection, pilote, config, test.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455371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5537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5371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Outils Windows : devmgmt.msc, eventvwr, msinfo32, Get-PnpDevice.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05663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0566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05663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Outils Linux : lsusb, lspci, lsblk, dmesg, lshw, journalctl.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5559552"/>
            <a:ext cx="365760" cy="365760"/>
          </a:xfrm>
          <a:prstGeom prst="ellipse">
            <a:avLst/>
          </a:prstGeom>
          <a:solidFill>
            <a:srgbClr val="B88A3F"/>
          </a:solidFill>
          <a:ln w="12700">
            <a:solidFill>
              <a:srgbClr val="B8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5595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55955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Diagnostic : reproduire → isoler → consulter logs → chercher → tester UNE solution.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Questions d'évaluation (1/2)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Une imprimante est un périphérique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D'entrée    b) De sortie    c) De stockage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produit du papier.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Un pilote (driver) sert à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Compiler    b) Faire dialoguer SE et matériel    c) Compresser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pont SE ↔ hardware.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Avant d'acheter un périphérique, on vérifie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91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La marque uniquement    b) La configuration minimale    c) La couleur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compatibilité SE, port, RAM.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Combien d'étapes a la méthodologie d'installation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3    b) 5    c)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2628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c — préparation, sauvegarde, connexion, détection, pilote, config, test.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Le Gestionnaire de périphériques Windows s'ouvre avec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devmgmt.msc    b) explorer.exe    c) regedit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321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a — devmgmt.msc ou Win+X.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Questions d'évaluation (2/2)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Sous Linux, lister les périphériques USB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lsblk    b) lsusb    c) lspci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lsusb.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Un symbole jaune dans le Gest. Périph. Windows signifie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Tout va bien    b) Pilote non installé ou en erreur    c) Périphérique en charge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alerter sur problème pilote.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Pour une imprimante réseau, on doit connaître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9184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Le numéro de série    b) Son adresse IP    c) Sa couleur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IP indispensable pour le pilote.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Q9.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Quand un périphérique fonctionne par intermittence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Changer le SE    b) Tester un autre câble/port    c) Acheter un nouveau 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2628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câble/port défectueux fréquent.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B88A3F"/>
                </a:solidFill>
                <a:latin typeface="Calibri"/>
              </a:rPr>
              <a:t>Q10.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Calibri"/>
              </a:rPr>
              <a:t>La meilleure source pour télécharger un pilote est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onsolas"/>
              </a:rPr>
              <a:t>a) Un forum aléatoire    b) Le site officiel du constructeur    c) Une clé USB d'ami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321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1">
                <a:solidFill>
                  <a:srgbClr val="2E7D32"/>
                </a:solidFill>
                <a:latin typeface="Calibri"/>
              </a:rPr>
              <a:t>Réponse : b — sécurité et version exacte.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Conclusion du chapitre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 i="0">
                <a:solidFill>
                  <a:srgbClr val="B88A3F"/>
                </a:solidFill>
                <a:latin typeface="Times New Roman"/>
              </a:rPr>
              <a:t>Vous savez installer un périphérique en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47120" cy="4572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Vous avez désormais une démarche méthodique pour installer n'importe quel périphérique :</a:t>
            </a:r>
          </a:p>
          <a:p>
            <a:pPr algn="l"/>
            <a:endParaRPr sz="13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IDENTIFIEZ le type de périphérique (entrée, sortie, stockage, communication)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COMPRENEZ le rôle du pilote dans la chaîne SE → matériel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LISEZ une documentation technique en sautant aux sections clés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VÉRIFIEZ la compatibilité AVANT achat (check-list 8 points)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APPLIQUEZ la méthodologie 7 étapes universelle ;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  •  Vous DIAGNOSTIQUEZ les problèmes courants avec les bons outils.</a:t>
            </a:r>
          </a:p>
          <a:p>
            <a:pPr algn="l"/>
            <a:endParaRPr sz="13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Au chapitre suivant, nous appliquerons la même rigueur à l'INSTALLATION DES LOGICIELS : interpréter la documentation, vérifier la configuration minimale, prévoir les étapes, et installer correctement. Les principes sont similaires — mais les particularités logicielles méritent un chapitre dédié.</a:t>
            </a:r>
          </a:p>
          <a:p>
            <a:pPr algn="l"/>
            <a:endParaRPr sz="1300" b="0" i="0">
              <a:solidFill>
                <a:srgbClr val="333333"/>
              </a:solidFill>
              <a:latin typeface="Calibri"/>
            </a:endParaRP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« Un bon technicien ne devine pas — il lit la doc, suit la méthode, et documente son travail. »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i="0">
                <a:solidFill>
                  <a:srgbClr val="B88A3F"/>
                </a:solidFill>
                <a:latin typeface="Times New Roman"/>
              </a:rPr>
              <a:t>Références bibliographiques et webographiques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41248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Bibliographie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Mueller S. — Upgrading and Repairing PCs, 22ᵉ éd., Que Publishing, 2015.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Russinovich M. — Windows Internals (Driver Development), Microsoft Press, 2017.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Corbet J., Rubini A. — Linux Device Drivers, 3ᵉ éd., O'Reilly, 2005.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Andrews J. — A+ Guide to Hardware, 9ᵉ éd., Cengage, 2019.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B88A3F"/>
                </a:solidFill>
                <a:latin typeface="Calibri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Schaefer L. — The Hardware Hacker, No Starch Press, 2017.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B88A3F"/>
                </a:solidFill>
                <a:latin typeface="Times New Roman"/>
              </a:rPr>
              <a:t>Webographie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918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hp.com/support  —  pilotes et docs HP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3872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387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support.canon.com  —  pilotes Canon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8561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85616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drivers.epson.com  —  pilotes Epson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32504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325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nvidia.com/Download  —  pilotes graphiques NVIDIA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79392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793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support.microsoft.com/windows-drivers  —  doc Windows drivers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262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262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wiki.ubuntu.com/HardwareSupport  —  périphériques supportés Ubuntu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7316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7731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linux-hardware.org  —  base de données compatibilité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2005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020056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cups.org  —  Common UNIX Printing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266944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26694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ifixit.com  —  guides démontage/dépannage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513832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B88A3F"/>
                </a:solidFill>
                <a:latin typeface="Calibri"/>
              </a:rP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51383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fr.wikipedia.org/wiki/Pilote_informatique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D2A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imset_logo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263640"/>
            <a:ext cx="1188720" cy="352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972800" y="64922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28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3535</Words>
  <Application>Microsoft Office PowerPoint</Application>
  <PresentationFormat>Custom</PresentationFormat>
  <Paragraphs>529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Walid Ghouili</cp:lastModifiedBy>
  <cp:revision>2</cp:revision>
  <dcterms:created xsi:type="dcterms:W3CDTF">2013-01-27T09:14:16Z</dcterms:created>
  <dcterms:modified xsi:type="dcterms:W3CDTF">2026-05-11T14:46:44Z</dcterms:modified>
  <cp:category/>
</cp:coreProperties>
</file>