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2377440" cy="703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554480"/>
            <a:ext cx="457200" cy="36576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6B6B6B"/>
                </a:solidFill>
                <a:latin typeface="Calibri"/>
              </a:rPr>
              <a:t>Installer des composants matériels et logiciels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B88A3F"/>
                </a:solidFill>
                <a:latin typeface="Times New Roman"/>
              </a:rPr>
              <a:t>Chapitre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Times New Roman"/>
              </a:rPr>
              <a:t>Présentation des principales caractéristiques des composantes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8288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Réalisé par : Ghouili Walid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Niveau : Licence  —  Année de formation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Institut Maghrébin des Sciences Économiques et de Technologie (IMSET)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Module : Systèmes d'exploitation   |   Durée : 3 à 4 heures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Plan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1440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Introduction au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152144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Pourquoi installer = comprendre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3502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3502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1. Histoire de l'informatique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De Babbage à l'ordinateur moderne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5564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2. Évolution des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9339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Des tubes aux nano-transistors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7627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627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3. Les principales générations des high-tech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414016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5 générations d'ordinateurs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9689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96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4. Architecture du Micro-ordinateur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34640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Hardware + Software — vue d'ensemble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01752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5. La partie 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255264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CPU, RAM, ROM, carte mère, périphériques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3814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43814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6. La partie 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67588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SE, applications, pilotes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5876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85876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7. Les mémoires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09651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Morte (ROM) et vive (DRAM, SDRAM, DDR)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7939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27939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8. Les périphériques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17136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Internes, externes, E/S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0001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70001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Atelier introductif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937760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Identification visuelle des composants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2064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12064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Synthèse, quiz d'évaluation et exercices d'application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4126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54126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Références bibliographiques et webographiques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Introduction au module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B88A3F"/>
                </a:solidFill>
                <a:latin typeface="Times New Roman"/>
              </a:rPr>
              <a:t>Pourquoi un module sur l'installation matérielle et logicielle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Tout technicien informatique, qu'il soit développeur, administrateur, support utilisateur, ou simple usager averti, doit savoir :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IDENTIFIER les composants d'un ordinateur (RAM, disque, CPU, GPU, cartes…)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INSTALLER un système d'exploitation et le configurer pour un usage spécifique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RACCORDER et installer des périphériques (imprimante, scanner, caméra…)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INSTALLER des logiciels en respectant les pré-requis et la documentation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DIAGNOSTIQUER les pannes matérielles et logicielles courantes.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Ce module est PRATIQUE par essence — il prépare aux situations réelles du métier. Vous apprendrez à LIRE une documentation technique, vérifier la configuration minimale, et prévoir les étapes d'installation avant d'agir.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Au programme : histoire, architecture, mémoires, périphériques, SE, et 4 ateliers pratiques répartis sur les 4 chapitres.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Objectifs pédagogiques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À la fin de ce chapitre, l'étudiant sera capable de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Retracer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l'histoire de l'informatique en 5 générations.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Distinguer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hardware (matériel) et software (logiciel).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42032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Décrire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5351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l'architecture d'un micro-ordinateur moderne.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42032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6334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Identifier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5351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visuellement CPU, RAM, ROM, carte mère, disques.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66744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5818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Comparer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78224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DRAM, SDRAM, DDR — leurs débits et générations.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66744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75818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078224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périphériques internes / externes / E/S.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91456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8289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Expliquer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0293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 rôle du SE comme couche entre matériel et applications.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791456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88289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Démonter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20293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et remonter un ordinateur sans abîmer les composants.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Times New Roman"/>
              </a:rPr>
              <a:t>Histoire de l'informatique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De Babbage à l'ordinateur moderne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5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Les précurseurs (XVIIᵉ – XIXᵉ siècle)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Avant l'électronique, des machines mécaniques ouvraient la voie.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914400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1642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508760"/>
            <a:ext cx="2560320" cy="777240"/>
          </a:xfrm>
          <a:prstGeom prst="rect">
            <a:avLst/>
          </a:prstGeom>
          <a:solidFill>
            <a:srgbClr val="FAF5E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La Pascaline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508760"/>
            <a:ext cx="7680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554480"/>
            <a:ext cx="7498079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Blaise Pascal (19 ans) invente la première machine à calculer mécanique. Réalise additions et soustractions via roues dentées.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22576"/>
            <a:ext cx="91440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22576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1673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2322576"/>
            <a:ext cx="2560320" cy="77724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322576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Machine de Leibniz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322576"/>
            <a:ext cx="7680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2368296"/>
            <a:ext cx="7498079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Gottfried Leibniz améliore la Pascaline : ajoute multiplication et division. Théorise aussi le système binaire.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36392"/>
            <a:ext cx="914400" cy="7772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36392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1801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3136392"/>
            <a:ext cx="2560320" cy="777240"/>
          </a:xfrm>
          <a:prstGeom prst="rect">
            <a:avLst/>
          </a:prstGeom>
          <a:solidFill>
            <a:srgbClr val="FAF5EC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3136392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Métier Jacquard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3136392"/>
            <a:ext cx="7680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182112"/>
            <a:ext cx="7498079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Joseph-Marie Jacquard utilise des CARTES PERFORÉES pour programmer le tissage de motifs. Première forme de PROGRAMMATION.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50208"/>
            <a:ext cx="914400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50208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1837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3950208"/>
            <a:ext cx="2560320" cy="777240"/>
          </a:xfrm>
          <a:prstGeom prst="rect">
            <a:avLst/>
          </a:prstGeom>
          <a:solidFill>
            <a:srgbClr val="FAF5EC"/>
          </a:solidFill>
          <a:ln w="63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395020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Machine analytique de Babbage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3950208"/>
            <a:ext cx="7680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3995928"/>
            <a:ext cx="7498079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Charles Babbage conçoit la première machine PROGRAMMABLE universelle. Jamais construite de son vivant mais conceptuellement révolutionnaire.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64024"/>
            <a:ext cx="914400" cy="77724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764024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1843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4764024"/>
            <a:ext cx="2560320" cy="777240"/>
          </a:xfrm>
          <a:prstGeom prst="rect">
            <a:avLst/>
          </a:prstGeom>
          <a:solidFill>
            <a:srgbClr val="FAF5EC"/>
          </a:solidFill>
          <a:ln w="635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4764024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Ada Lovelace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4764024"/>
            <a:ext cx="7680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4809744"/>
            <a:ext cx="7498079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Première PROGRAMMEUSE de l'histoire. Écrit l'algorithme pour calculer les nombres de Bernoulli sur la machine de Babbage.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77840"/>
            <a:ext cx="914400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7784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1890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17320" y="5577840"/>
            <a:ext cx="2560320" cy="777240"/>
          </a:xfrm>
          <a:prstGeom prst="rect">
            <a:avLst/>
          </a:prstGeom>
          <a:solidFill>
            <a:srgbClr val="FAF5E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557784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Tabulatrice Hollerith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5577840"/>
            <a:ext cx="7680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5623560"/>
            <a:ext cx="7498079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Herman Hollerith mécanise le recensement US. Fonde IBM en 1924.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6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Times New Roman"/>
              </a:rPr>
              <a:t>Évolution des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Des tubes électroniques aux nano-transistors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Les 5 générations d'ordinateurs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914400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91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1ʳᵉ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005840"/>
            <a:ext cx="155448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00584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1">
                <a:solidFill>
                  <a:srgbClr val="1F4E79"/>
                </a:solidFill>
                <a:latin typeface="Calibri"/>
              </a:rPr>
              <a:t>1940-1956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005840"/>
            <a:ext cx="2560320" cy="100584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00584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D2AB67"/>
                </a:solidFill>
                <a:latin typeface="Consolas"/>
              </a:rPr>
              <a:t>Tubes à vide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005840"/>
            <a:ext cx="6080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051560"/>
            <a:ext cx="589788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ENIAC (1945), UNIVAC. Énormes (30 t), chaleur extrême, peu fiables. Programmation par câblage.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48256"/>
            <a:ext cx="914400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48256"/>
            <a:ext cx="91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2ᵉ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2048256"/>
            <a:ext cx="155448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2048256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1">
                <a:solidFill>
                  <a:srgbClr val="2E7D32"/>
                </a:solidFill>
                <a:latin typeface="Calibri"/>
              </a:rPr>
              <a:t>1956-1963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048256"/>
            <a:ext cx="2560320" cy="100584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048256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D2AB67"/>
                </a:solidFill>
                <a:latin typeface="Consolas"/>
              </a:rPr>
              <a:t>Transistors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048256"/>
            <a:ext cx="6080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093976"/>
            <a:ext cx="589788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IBM 1401. Plus petits, fiables, économes. Langages haut niveau (FORTRAN, COBOL).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90672"/>
            <a:ext cx="914400" cy="10058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90672"/>
            <a:ext cx="91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3ᵉ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3090672"/>
            <a:ext cx="155448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090672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1">
                <a:solidFill>
                  <a:srgbClr val="E67E22"/>
                </a:solidFill>
                <a:latin typeface="Calibri"/>
              </a:rPr>
              <a:t>1964-1971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090672"/>
            <a:ext cx="2560320" cy="100584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090672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D2AB67"/>
                </a:solidFill>
                <a:latin typeface="Consolas"/>
              </a:rPr>
              <a:t>Circuits intégrés (CI)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3090672"/>
            <a:ext cx="6080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3136392"/>
            <a:ext cx="589788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IBM System/360. Plusieurs transistors sur une puce. SE multi-tâches, time-sharing.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33088"/>
            <a:ext cx="914400" cy="10058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33088"/>
            <a:ext cx="91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4ᵉ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4133088"/>
            <a:ext cx="155448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4133088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1">
                <a:solidFill>
                  <a:srgbClr val="C62828"/>
                </a:solidFill>
                <a:latin typeface="Calibri"/>
              </a:rPr>
              <a:t>1971-prés.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4133088"/>
            <a:ext cx="2560320" cy="100584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4133088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D2AB67"/>
                </a:solidFill>
                <a:latin typeface="Consolas"/>
              </a:rPr>
              <a:t>Micro-processeurs (VLSI)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4133088"/>
            <a:ext cx="6080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4178808"/>
            <a:ext cx="589788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Intel 4004 (1971). Apple II, IBM PC, smartphones. Des millions de transistors sur 1 puce.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75504"/>
            <a:ext cx="914400" cy="100584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175504"/>
            <a:ext cx="91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5ᵉ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17320" y="5175504"/>
            <a:ext cx="1554480" cy="1005840"/>
          </a:xfrm>
          <a:prstGeom prst="rect">
            <a:avLst/>
          </a:prstGeom>
          <a:solidFill>
            <a:srgbClr val="FAF5EC"/>
          </a:solidFill>
          <a:ln w="635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20" y="5175504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1">
                <a:solidFill>
                  <a:srgbClr val="B88A3F"/>
                </a:solidFill>
                <a:latin typeface="Calibri"/>
              </a:rPr>
              <a:t>Auj. - futur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5175504"/>
            <a:ext cx="2560320" cy="100584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5175504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D2AB67"/>
                </a:solidFill>
                <a:latin typeface="Consolas"/>
              </a:rPr>
              <a:t>IA, calcul quantique, neuromorphique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5175504"/>
            <a:ext cx="6080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0" y="5221224"/>
            <a:ext cx="589788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Apprentissage profond, ordinateurs quantiques (IBM Q, Google), puces neuromorphiques (IBM TrueNorth).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imes New Roman"/>
              </a:rPr>
              <a:t>Architecture du Micro-ordinateur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Hardware + Software : les 2 piliers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Hardware vs Software — les deux faces d'un ordinateur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55321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HARDWARE — le matériel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532120" cy="48463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349240" cy="4754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Tout ce qu'on peut TOUCHER physiquement.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Composants principaux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Carte mère (motherboard)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Processeur (CPU)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Mémoire vive (RAM)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Mémoire morte (ROM, BIOS)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Disques (SSD, HDD)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Carte graphique (GPU)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Carte réseau, son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Alimentation (PSU)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Boîtier, ventilateurs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Périphériques : écran, clavier, souris,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  imprimante, scanner, casque…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Sans hardware → pas d'ordinateur.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05840"/>
            <a:ext cx="55321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0584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SOFTWARE — le logiciel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532120" cy="48463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349240" cy="4754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Tout ce qu'on NE peut PAS toucher — code et données.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Trois grandes catégories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Système d'exploitation (SE)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    Windows, Linux, macOS, Android, iOS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Pilotes (drivers)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    Petits programmes qui parlent au matériel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    (carte graphique, imprimante…)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Applications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    Word, Chrome, Photoshop, jeux, antivirus,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    compilateurs, bases de données…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Sans software → un ordinateur est un tas de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circuits inertes.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imes New Roman"/>
              </a:rPr>
              <a:t>La partie Hardware en détail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Carte mère, CPU, mémoires, disques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La carte mère — colonne vertébrale du PC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B88A3F"/>
                </a:solidFill>
                <a:latin typeface="Times New Roman"/>
              </a:rPr>
              <a:t>Rôle de la carte mère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La carte mère INTERCONNECTE tous les composants. Elle distribue le courant et coordonne la communication via le chipset.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Ne calcule pas — relie. Sans carte mère compatible, vos composants sont inutilisables.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Éléments visibles sur une carte mère ATX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9476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Socket CPU (LGA 1700, AM5)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79476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79476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Slots DIMM pour RAM (2 à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79476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79476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Chipset (PCH, dissipateur)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8736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87368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Slots PCIe (GPU, cartes ext.)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08736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087368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Ports SATA (disques 2,5")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08736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087368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Slots M.2 (SSD NVMe)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7997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7997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Ports E/S backplate (USB, RJ45)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37997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37997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Pile CMOS (CR2032)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37997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37997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Pin headers (façade, fans)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9601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B88A3F"/>
                </a:solidFill>
                <a:latin typeface="Times New Roman"/>
              </a:rPr>
              <a:t>Les formats (form factors)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417320"/>
            <a:ext cx="13716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14173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1417320"/>
            <a:ext cx="13716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4173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Taille (mm)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1417320"/>
            <a:ext cx="18288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1417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1783080"/>
            <a:ext cx="13716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17830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E-ATX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1783080"/>
            <a:ext cx="13716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17830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305×330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1783080"/>
            <a:ext cx="18288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17830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Stations HEDT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214884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21488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ATX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214884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21488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305×244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2148840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21488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PC standard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2514600"/>
            <a:ext cx="13716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25146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Micro-ATX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2514600"/>
            <a:ext cx="13716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25146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244×244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0" y="2514600"/>
            <a:ext cx="18288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0" y="2514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PC compact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88036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28803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Mini-ITX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0" y="288036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0" y="28803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170×170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2880360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0" y="28803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Mini-PC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0" y="3931920"/>
            <a:ext cx="4572000" cy="2377440"/>
          </a:xfrm>
          <a:prstGeom prst="roundRect">
            <a:avLst>
              <a:gd name="adj" fmla="val 10000"/>
            </a:avLst>
          </a:prstGeom>
          <a:solidFill>
            <a:srgbClr val="F7ECD0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52360" y="3977639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Times New Roman"/>
              </a:rPr>
              <a:t>Le chipset — chef d'orchestre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52360" y="4297680"/>
            <a:ext cx="4297680" cy="1920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Puce qui route les données entre CPU, RAM, GPU, périphériques.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Sur les CPU modernes (Intel/AMD), une partie est INTÉGRÉE au processeur 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•  contrôleur mémoire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  •  lignes PCIe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Le reste (SATA, USB, audio) reste sur la carte mère.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12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Le processeur (CPU) — le cerveau qui calcule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B88A3F"/>
                </a:solidFill>
                <a:latin typeface="Times New Roman"/>
              </a:rPr>
              <a:t>Composants internes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Un CPU contient :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•  UC (Unité de Contrôle) — coordonne tout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•  UAL (ALU) — fait les calculs (+, −, ×, ÷, ET, OU)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•  Registres — petites mémoires ultra-rapides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•  Caches L1, L2, L3 — accélérateurs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Le cycle Fetch — Decode — Execute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Répété MILLIARDS de fois par seconde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1.  FETCH  — lire l'instruction suivante en mémoire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2.  DECODE — comprendre quoi faire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3.  EXECUTE — l'exécuter via l'UAL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Caractéristiques clés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Fréquence (GHz) — vitesse d'horloge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Cœurs — nombre de moteurs en parallèle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Cache — mémoire interne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96012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B88A3F"/>
                </a:solidFill>
                <a:latin typeface="Times New Roman"/>
              </a:rPr>
              <a:t>Diagramme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4754880" cy="48463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1905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5087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B88A3F"/>
                </a:solidFill>
                <a:latin typeface="Times New Roman"/>
              </a:rPr>
              <a:t>CPU (Microprocesseur)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011680"/>
            <a:ext cx="2011680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01168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UC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(Contrôle)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2011680"/>
            <a:ext cx="2011680" cy="91440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01168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ALU / 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3108960"/>
            <a:ext cx="4206240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10896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Registres (AX, BX, IP, SP…)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3886200"/>
            <a:ext cx="4206240" cy="640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88620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Caches L1 / L2 / L3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4663440"/>
            <a:ext cx="420624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466344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Interface BUS (vers RAM, chipset)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30352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Calibri"/>
              </a:rPr>
              <a:t>Constructeurs : Intel, AMD (PC) ; ARM, Apple (mobile, Mac).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imes New Roman"/>
              </a:rPr>
              <a:t>Les mémoires — morte et vive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ROM, DRAM, SDRAM, DDR — vue d'ensemble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Mémoire morte (ROM) vs mémoire vive (RAM)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55321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ROM — Read Only 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532120" cy="48463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349240" cy="4754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« Mémoire morte » ou FIRMWARE.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Caractéristiques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Non volatile (conservée hors tension)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En lecture seule (ou très rarement écrite)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Très petite (quelques Mo)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Types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ROM (fixée à la fabrication)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PROM (programmable 1 fois)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EPROM (effaçable UV)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EEPROM (effaçable électriquement)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Flash (= EEPROM moderne)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Usage : BIOS/UEFI de la carte mère, firmware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des périphériques (SSD, imprimantes, routeurs).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05840"/>
            <a:ext cx="55321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05840"/>
            <a:ext cx="5532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RAM — Random Access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532120" cy="48463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349240" cy="4754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« Mémoire vive » ou MÉMOIRE DE TRAVAIL.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Caractéristiques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Volatile (disparaît à l'extinction !)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Lecture ET écriture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Beaucoup plus grande (4 à 128 Go)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Beaucoup plus rapide que le disque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Contient pendant l'exécution 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Le noyau du SE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Les programmes ouverts (Chrome, Word…)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Les données manipulées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  •  Le cache disque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Si on coupe le courant → tout disparaît.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C'est pourquoi on SAUVEGARDE sur disque !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DRAM, SDRAM, DDR — évolution de la RAM moderne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Comment la RAM est passée de 100 MHz à 8 GHz en 25 ans.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554480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DRAM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508760"/>
            <a:ext cx="2743200" cy="109728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50876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1">
                <a:solidFill>
                  <a:srgbClr val="D2AB67"/>
                </a:solidFill>
                <a:latin typeface="Consolas"/>
              </a:rPr>
              <a:t>Dynamic 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508760"/>
            <a:ext cx="6858000" cy="1097280"/>
          </a:xfrm>
          <a:prstGeom prst="rect">
            <a:avLst/>
          </a:prstGeom>
          <a:solidFill>
            <a:srgbClr val="FAF5EC"/>
          </a:solidFill>
          <a:ln w="63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55448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Type historique de RAM. Chaque bit stocké dans un condensateur qui DOIT être rafraîchi ~64 ms (sinon perte).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Densité haute, coût faible — type DOMINANT.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554480" cy="10972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SRAM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651760"/>
            <a:ext cx="2743200" cy="109728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65176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1">
                <a:solidFill>
                  <a:srgbClr val="D2AB67"/>
                </a:solidFill>
                <a:latin typeface="Consolas"/>
              </a:rPr>
              <a:t>Static 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651760"/>
            <a:ext cx="6858000" cy="1097280"/>
          </a:xfrm>
          <a:prstGeom prst="rect">
            <a:avLst/>
          </a:prstGeom>
          <a:solidFill>
            <a:srgbClr val="FAF5EC"/>
          </a:solidFill>
          <a:ln w="63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69748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Pas besoin de rafraîchissement. Beaucoup plus rapide MAIS plus chère et moins dense.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Utilisée pour les CACHES CPU (L1, L2, L3).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1554480" cy="10972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9476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SDRAM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3794760"/>
            <a:ext cx="2743200" cy="109728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379476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1">
                <a:solidFill>
                  <a:srgbClr val="D2AB67"/>
                </a:solidFill>
                <a:latin typeface="Consolas"/>
              </a:rPr>
              <a:t>Synchronous DRAM (1997)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794760"/>
            <a:ext cx="6858000" cy="109728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84048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DRAM synchronisée avec l'horloge du bus système.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PC100, PC133 (100/133 MHz). Première étape vers la vitesse.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37760"/>
            <a:ext cx="1554480" cy="10972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3776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DDR SDRAM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4937760"/>
            <a:ext cx="2743200" cy="109728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493776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1">
                <a:solidFill>
                  <a:srgbClr val="D2AB67"/>
                </a:solidFill>
                <a:latin typeface="Consolas"/>
              </a:rPr>
              <a:t>Double Data Rate (2000)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4937760"/>
            <a:ext cx="6858000" cy="1097280"/>
          </a:xfrm>
          <a:prstGeom prst="rect">
            <a:avLst/>
          </a:prstGeom>
          <a:solidFill>
            <a:srgbClr val="FAF5EC"/>
          </a:solidFill>
          <a:ln w="635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498348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Transfère DEUX fois par cycle d'horloge (montant et descendant).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À chaque génération : fréquence et débit doublent.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80760"/>
            <a:ext cx="11247120" cy="274320"/>
          </a:xfrm>
          <a:prstGeom prst="roundRect">
            <a:avLst>
              <a:gd name="adj" fmla="val 10000"/>
            </a:avLst>
          </a:prstGeom>
          <a:solidFill>
            <a:srgbClr val="F7ECD0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1">
                <a:solidFill>
                  <a:srgbClr val="333333"/>
                </a:solidFill>
                <a:latin typeface="Calibri"/>
              </a:rPr>
              <a:t>💡 RAM ≠ Stockage. La RAM disparaît à l'extinction ; le disque conserve.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Les générations DDR — DDR à DDR5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Tableau comparatif des 5 générations de RAM DDR.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09728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Gén.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508760"/>
            <a:ext cx="109728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Année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508760"/>
            <a:ext cx="228600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508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Fréquence eff.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508760"/>
            <a:ext cx="182880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5087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Débit max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508760"/>
            <a:ext cx="128016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5087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365760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5087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Période usage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20240"/>
            <a:ext cx="109728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202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DDR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920240"/>
            <a:ext cx="109728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19202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1920240"/>
            <a:ext cx="228600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19202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200 - 400 MT/s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920240"/>
            <a:ext cx="182880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1920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3.2 Go/s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920240"/>
            <a:ext cx="12801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9202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2.5 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920240"/>
            <a:ext cx="365760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920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PC 2000-2003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7744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3774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DDR2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237744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23774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2003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237744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400 - 1066 MT/s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23774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23774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8.5 Go/s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237744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23774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1.8 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237744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2377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PC 2004-2007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834640"/>
            <a:ext cx="109728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8346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DDR3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2834640"/>
            <a:ext cx="109728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54480" y="28346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2007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2834640"/>
            <a:ext cx="228600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0" y="28346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800 - 2133 MT/s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2834640"/>
            <a:ext cx="182880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0" y="2834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17 Go/s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2834640"/>
            <a:ext cx="12801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28346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1.5 V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2834640"/>
            <a:ext cx="365760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28346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PC 2008-2014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29184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2918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DDR4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54480" y="329184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54480" y="32918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2014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0" y="329184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0" y="32918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2133 - 3200 MT/s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329184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37760" y="32918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25.6 Go/s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66560" y="329184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66560" y="32918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1.2 V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6720" y="329184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0" y="32918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PC 2015-2021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749040"/>
            <a:ext cx="109728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3749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DDR5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54480" y="3749040"/>
            <a:ext cx="109728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54480" y="3749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2020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51760" y="3749040"/>
            <a:ext cx="228600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51760" y="37490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4800 - 8400 MT/s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3749040"/>
            <a:ext cx="182880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37760" y="37490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67.2 Go/s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3749040"/>
            <a:ext cx="128016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0" y="37490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1.1 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6720" y="3749040"/>
            <a:ext cx="3657600" cy="45720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46720" y="3749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PC actuel (2022+)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709160"/>
            <a:ext cx="11247120" cy="16002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⚠ Compatibilité absolue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507492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Les générations DDR ne sont PAS compatibles entre elles. Encoches différentes, tensions différentes, contrôleurs différents.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Une barrette DDR4 n'entre PAS dans un slot DDR5 (et inversement). Vérifier la compatibilité de la carte mère ET du CPU avant achat.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Picture 80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Times New Roman"/>
              </a:rPr>
              <a:t>Les périphériques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Internes, externes, E/S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Classification des périphériques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Un PÉRIPHÉRIQUE est tout matériel raccordé à l'ordinateur. 3 classifications principales.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749039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749039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Par DIRECTION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3749039" cy="420624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47471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Entrée (input)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3474719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clavier, souris, scanner, webcam,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micro, lecteur de carte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347471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Sortie (output)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93592"/>
            <a:ext cx="3474719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écran, imprimante, haut-parleurs,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casque, vidéoprojecteur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347471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Entrée + Sortie (E/S)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19472"/>
            <a:ext cx="3474719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écran tactile, disque dur, clé USB,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modem, manette à retour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508760"/>
            <a:ext cx="3749039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508760"/>
            <a:ext cx="3749039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Par LOCALISATION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920240"/>
            <a:ext cx="3749039" cy="420624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39" y="2011680"/>
            <a:ext cx="347471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Internes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2267712"/>
            <a:ext cx="3474719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RAM, SSD, GPU, carte réseau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Wi-Fi M.2 (à l'intérieur)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3337560"/>
            <a:ext cx="347471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Externes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3593592"/>
            <a:ext cx="3474719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clavier USB, souris, imprimante,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disque externe (à l'extérieur)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39" y="4663440"/>
            <a:ext cx="347471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Embarqués (laptop)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9" y="4919472"/>
            <a:ext cx="3474719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écran intégré, webcam intégrée,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micro intégré, trackpad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58" y="1508760"/>
            <a:ext cx="3749039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8" y="1508760"/>
            <a:ext cx="3749039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Par INTERFACE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8" y="1920240"/>
            <a:ext cx="3749039" cy="420624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8" y="2011680"/>
            <a:ext cx="347471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Filaire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8" y="2267712"/>
            <a:ext cx="3474719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USB, HDMI, Ethernet, SATA,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PCIe, jack 3.5mm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8" y="3337560"/>
            <a:ext cx="347471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Sans-fil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8" y="3593592"/>
            <a:ext cx="3474719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Bluetooth, Wi-Fi, infrarouge,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NFC, RF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8" y="4663440"/>
            <a:ext cx="3474719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Réseau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8" y="4919472"/>
            <a:ext cx="3474719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imprimantes IP, NAS, caméras IP,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disques réseau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Périphériques courants et leurs ports de raccordement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219456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Périphérique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005840"/>
            <a:ext cx="13716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0058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005840"/>
            <a:ext cx="274320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0058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Port standard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005840"/>
            <a:ext cx="4937760" cy="36576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0058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Particularité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Clavier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371600"/>
            <a:ext cx="13716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3716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Entrée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371600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USB-A / Bluetooth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1371600"/>
            <a:ext cx="49377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3716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1-key rollover ou N-key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73736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7373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Souris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173736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17373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Entrée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173736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17373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USB-A / Bluetooth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737360"/>
            <a:ext cx="4937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17373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Optique ou laser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10312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103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Écran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103120"/>
            <a:ext cx="13716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21031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Sortie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2103120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21031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HDMI / DisplayPort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103120"/>
            <a:ext cx="49377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21031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4K, 144 Hz selon modèle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6888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4688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Imprimante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246888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24688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Sortie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246888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0" y="2468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USB-B / Wi-Fi / RJ45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2468880"/>
            <a:ext cx="4937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24688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Jet d'encre ou laser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83464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28346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Scanner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2834640"/>
            <a:ext cx="13716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0" y="28346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Entrée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3360" y="2834640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0" y="2834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USB / Wi-Fi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2834640"/>
            <a:ext cx="49377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2834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Résolution en DPI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20040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200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Webcam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51760" y="320040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51760" y="3200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Entrée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23360" y="320040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23360" y="3200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USB-A / intégré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66560" y="3200400"/>
            <a:ext cx="4937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60" y="32004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720p, 1080p, 4K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356616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35661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Casque + micro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1760" y="3566160"/>
            <a:ext cx="13716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51760" y="3566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E + 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23360" y="3566160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23360" y="3566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USB / jack 3.5mm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66560" y="3566160"/>
            <a:ext cx="49377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6560" y="3566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Stéréo, surround 7.1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93192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3931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Disque externe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51760" y="393192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51760" y="39319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E/S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23360" y="393192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23360" y="3931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USB-A / USB-C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3931920"/>
            <a:ext cx="4937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66560" y="39319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HDD ou SSD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429768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42976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Clé USB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51760" y="4297680"/>
            <a:ext cx="13716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51760" y="42976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E/S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023360" y="4297680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23360" y="4297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USB-A / USB-C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66560" y="4297680"/>
            <a:ext cx="49377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66560" y="42976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Capacité 8 Go à 2 To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4663440"/>
            <a:ext cx="2194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46634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Vidéoprojecteur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51760" y="4663440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51760" y="46634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Sortie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023360" y="466344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023360" y="4663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HDMI / VGA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66560" y="4663440"/>
            <a:ext cx="4937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66560" y="46634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Lumens, focus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5029200"/>
            <a:ext cx="21945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50292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Manette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651760" y="5029200"/>
            <a:ext cx="13716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651760" y="50292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Entrée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023360" y="5029200"/>
            <a:ext cx="274320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023360" y="50292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USB / Bluetooth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66560" y="5029200"/>
            <a:ext cx="493776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66560" y="50292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Vibration, retour de force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1" name="Picture 100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La partie Software — l'intelligence du PC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B88A3F"/>
                </a:solidFill>
                <a:latin typeface="Times New Roman"/>
              </a:rPr>
              <a:t>Trois grandes catégories de logiciels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64008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1. Système d'exploitation (SE)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6400800" cy="128016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La couche FONDAMENTALE qui démarre la machine et gère tout.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612648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1F4E79"/>
                </a:solidFill>
                <a:latin typeface="Calibri"/>
              </a:rPr>
              <a:t>Exemples : Windows 11, Linux Ubuntu, macOS, Android, 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64008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2. Pilotes (drivers)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94760"/>
            <a:ext cx="6400800" cy="128016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0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Petits programmes qui font dialoguer le SE avec un matériel précis.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612648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Exemples : Pilote NVIDIA, pilote imprimante HP, pilote Wi-Fi Intel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66360"/>
            <a:ext cx="6400800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3. Applications utilisateur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23560"/>
            <a:ext cx="6400800" cy="128016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669280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Tout ce que l'utilisateur LANCE pour travailler ou se distraire.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126480"/>
            <a:ext cx="612648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E67E22"/>
                </a:solidFill>
                <a:latin typeface="Calibri"/>
              </a:rPr>
              <a:t>Exemples : Word, Chrome, Photoshop, VLC, jeux, antivirus, 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9601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B88A3F"/>
                </a:solidFill>
                <a:latin typeface="Times New Roman"/>
              </a:rPr>
              <a:t>Pile logicielle (stack)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417320"/>
            <a:ext cx="4572000" cy="612648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417320"/>
            <a:ext cx="4572000" cy="6126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Utilisateur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103120"/>
            <a:ext cx="4480560" cy="6126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103120"/>
            <a:ext cx="4480560" cy="6126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Applications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788920"/>
            <a:ext cx="4389120" cy="6126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4389120" cy="6126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Bibliothèques (libs)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3474720"/>
            <a:ext cx="4297680" cy="6126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474720"/>
            <a:ext cx="4297680" cy="6126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Système d'exploitation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4160520"/>
            <a:ext cx="4206240" cy="6126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4160520"/>
            <a:ext cx="4206240" cy="6126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Pilotes (drivers)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4846320"/>
            <a:ext cx="4114800" cy="612648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4846320"/>
            <a:ext cx="4114800" cy="6126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Matériel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21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Atelier introductif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imes New Roman"/>
              </a:rPr>
              <a:t>Identification visuelle des composants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Pratique guidée sur PC ouvert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Atelier — démontage et identification d'un PC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Durée : 1 h 30  |  Mode : binôme  |  Niveau : pratique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Objectif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Démonter un PC, identifier les composants, comprendre leur rôle, remonter.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Étapes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alibri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ÉCURITÉ : débrancher l'alimentation, porter un bracelet antistatique (ou toucher le boîtier métal).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272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2724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Ouvrir le boîtier (vis sur l'arrière, panneau latéral).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198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alibri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1985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Identifier visuellement : carte mère, CPU (sous le ventirad), barrettes RAM, GPU, SSD/HDD, alimentation.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1246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alibri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12464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Noter sur une fiche : marque/modèle de chaque composant (visible).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050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alibri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050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Retirer la RAM (clips de chaque côté) → observer les puces, les encoches DDR.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alibri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Retirer la carte graphique (PCIe lock + vis case).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902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alibri"/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9028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Retirer le disque SATA (câble data + câble alim).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8289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alibri"/>
              </a:rPr>
              <a:t>8.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8289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Repérer la pile CMOS (CR2032) — ne pas retirer (perd la config BIOS).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755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alibri"/>
              </a:rPr>
              <a:t>9.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75504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Remonter dans l'ORDRE INVERSE en s'assurant de bien enficher chaque composant.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6811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8A3F"/>
                </a:solidFill>
                <a:latin typeface="Calibri"/>
              </a:rPr>
              <a:t>10.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6811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Refermer le boîtier, rebrancher, allumer → le PC doit démarrer normalement.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10000"/>
            </a:avLst>
          </a:prstGeom>
          <a:solidFill>
            <a:srgbClr val="F7ECD0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Livrable : fiche d'inventaire détaillée (composant / marque / modèle / fonction) + photos avant/après.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Synthèse globale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57200" y="103327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332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3327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L'informatique a 5 générations : tubes, transistors, CI, microprocesseurs, IA.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3619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Précurseurs : Pascaline (1642), Jacquard (1801), Babbage + Ada Lovelace (1837).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3911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3911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Un PC = HARDWARE (matériel) + SOFTWARE (logiciel).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54203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420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42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Hardware : carte mère, CPU, RAM, ROM, disques, périphériques.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04495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44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4495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Software : SE + pilotes + applications.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54787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478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4787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CPU : UC + ALU + registres + caches. Cycle Fetch-Decode-Execute.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05079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507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05079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ROM : non volatile, fixe (BIOS/UEFI). RAM : volatile, dynamique.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55371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537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5371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DRAM/SDRAM/DDR : évolution de la RAM. DDR5 aujourd'hui = 67 Go/s.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05663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566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0566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Périphériques par direction (E/S), localisation (interne/externe), interface (USB, BT…).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555955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95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55955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Avant tout démontage : sécurité (déconnexion + antistatique).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Questions d'évaluation (1/2)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Qui a conçu la première machine programmable (1837)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Pascal    b) Babbage    c) 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Charles Babbage.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La 4ᵉ génération d'ordinateurs utilise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Tubes à vide    b) Circuits intégrés    c) Microprocesseurs VLSI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c — depuis l'Intel 4004 en 1971.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Le hardware désigne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Le logiciel    b) Le matériel    c) Les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tout ce qu'on peut toucher.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La mémoire ROM est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Volatile    b) Non volatile    c) Très lente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conserve son contenu hors tension.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DDR signifie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Direct Data Rate    b) Double Data Rate    c) Dynamic Data 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Double Data Rate (2 transferts par cycle).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Questions d'évaluation (2/2)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Une imprimante est un périphérique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D'entrée    b) De sortie    c) De stockage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reçoit des données, produit du papier.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Le rôle de l'UAL dans le CPU est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Stocker    b) Calculer    c) Décoder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Unité Arithmétique et Logique.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SDRAM signifie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Static DRAM    b) Synchronous DRAM    c) Sequential DRAM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synchronisée à l'horloge système.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Un disque SSD est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Mécanique avec plateaux    b) Mémoire flash sans pièce mobile    c) Cassette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Solid State Drive.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Q10.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Avant ouvrir un PC, on doit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Allumer le PC    b) Débrancher l'alimentation    c) Ne rien faire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sécurité absolue.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Exercices d'application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Times New Roman"/>
              </a:rPr>
              <a:t>Exercice 1 — Frise chronologique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Reproduire la frise des 5 générations d'ordinateurs. Pour chaque génération, citer 1 exemple de machine emblématique et la technologie de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Times New Roman"/>
              </a:rPr>
              <a:t>Exercice 2 — Inventaire de votre 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Identifier (sans démonter) sur votre PC personnel : marque/modèle CPU, fréquence, nombre de cœurs, quantité et type de RAM (DDR3/4/5), taille du disque, marque GPU. Outils : Paramètres → Système ou commande wmic / cpuinfo.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Times New Roman"/>
              </a:rPr>
              <a:t>Exercice 3 — Comparaison périphériques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Tableau comparatif : clavier filaire USB vs Bluetooth. Avantages, inconvénients, consommation, latence, prix moyen.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Times New Roman"/>
              </a:rPr>
              <a:t>Exercice 4 — Choix d'achat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Vous devez configurer un PC bureautique à 600 € : choisissez CPU, RAM, SSD, carte mère, écran, clavier-souris. Justifier chaque choix selon le rapport qualité/prix.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Conclusion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B88A3F"/>
                </a:solidFill>
                <a:latin typeface="Times New Roman"/>
              </a:rPr>
              <a:t>Vous connaissez désormais le PC sous toutes ses 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Vous avez désormais une vision COMPLÈTE de la composition d'un ordinateur :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savez retracer son HISTOIRE et placer chaque génération dans son contexte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comprenez la séparation fondamentale HARDWARE / SOFTWARE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identifiez visuellement les composants principaux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distinguez les types de mémoires (ROM, DRAM, SDRAM, DDR1-5)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classifiez les périphériques selon plusieurs critères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savez démonter et remonter un PC en toute sécurité.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Au chapitre suivant, nous passerons à la PRATIQUE : mise en marche du micro-ordinateur, manipulation des commandes système (UNIX/DOS), gestion des fichiers en mode textuel et graphique, et configuration personnalisée d'un système d'exploitation pour un usage spécifique.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« Connaître les composants, c'est déjà savoir où chercher quand quelque chose ne marche pas. 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Références bibliographiques et webographiques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Bibliographie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Tanenbaum A. S. — Architecture de l'ordinateur, 5ᵉ éd., Pearson, 2013.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Patterson D., Hennessy J. — Computer Organization and Design, Morgan Kaufmann, 2020.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Cazes A., Delacroix J. — Architecture des machines et systèmes informatiques, Dunod, 2018.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Mueller S. — Upgrading and Repairing PCs, 22ᵉ éd., Que Publishing, 2015.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Petzold C. — Code: The Hidden Language of Computer Hardware and Software, MS Press, 2000.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Webographie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computerhistory.org  —  Computer History Museum, photos et archives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3872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intel.com/content/www/us/en/products  —  catalogue Intel 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8561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85616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amd.com  —  AMD processors and GPUs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3250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325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kingston.com/fr/blog  —  guides DDR et mémoire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7939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793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ifixit.com  —  guides de démontage illustrés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262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fr.wikipedia.org/wiki/Histoire_de_l'informatique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7316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731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fr.wikipedia.org/wiki/Architecture_de_von_Neumann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005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20056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fr.wikipedia.org/wiki/DDR_SDRAM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6694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6694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tomshardware.fr  —  benchmarks et tests matériels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1383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1383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techpowerup.com/cpu-specs  —  base de données CPU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29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