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2377440" cy="703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554480"/>
            <a:ext cx="457200" cy="36576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6B6B6B"/>
                </a:solidFill>
                <a:latin typeface="Calibri"/>
              </a:rPr>
              <a:t>Installer des composants matériels et logiciels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B88A3F"/>
                </a:solidFill>
                <a:latin typeface="Times New Roman"/>
              </a:rPr>
              <a:t>Chapitre 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Times New Roman"/>
              </a:rPr>
              <a:t>Interprétation et exploitation des logiciels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8288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Réalisé par : Ghouili Walid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Niveau : Licence  —  Année de formation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Institut Maghrébin des Sciences Économiques et de Technologie (IMSET)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Module : Systèmes d'exploitation   |   Durée : 3 à 4 heures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Plan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Introduction &amp; objectifs pédagogiques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5214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Maîtriser l'installation logicielle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3502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1. Les différents types de logiciels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Système, applications, utilitaires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2. Classification par licence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Libre, open source, propriétaire, freeware…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3. Structure d'un document technique de logiciel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1401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Manuel, README, changelog, EULA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9689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96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4. Interpréter une documentation technique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3464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Versions, prérequis, dépendances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175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5. Vérifier la configuration minimale requise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25526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CPU, RAM, espace, GPU, réseau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3814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43814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6. Prévoir les étapes d'installation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7588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Méthode 8 étapes adaptée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5876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7. Méthodes d'installation par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09651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Installeur, paquet, portable,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7939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8. Désinstallation propre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1713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Sans laisser de résidus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0001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70001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Atelier — Installer et configurer un logiciel 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93776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Cas pratique complet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12064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Synthèse, quiz d'évaluation et exercices d'application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4126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4126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Références bibliographiques et webographiques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Introduction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Installer un logiciel : plus qu'un double-clic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Cliquer sur 'Installer' n'est pas toujours suffisant. Pour les logiciels professionnels, complexes ou en environnement contrôlé, il faut :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COMPRENDRE quel TYPE de logiciel on installe (système, applicatif, utilitaire)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CONNAÎTRE la LICENCE et ses conditions (libre, propriétaire, commerciale)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LIRE la documentation technique (README, changelog, manuel)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VÉRIFIER que le système répond aux prérequis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PRÉVOIR l'impact de l'installation (espace disque, dépendances, conflits)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EXÉCUTER l'installation par la méthode appropriée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TESTER et VALIDER avant utilisation en production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POUVOIR DÉSINSTALLER proprement si nécessaire.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Ce dernier chapitre du module clôt la formation : à la fin, vous saurez installer TOUT type de logiciel sur tout type de SE avec méthode et confiance.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Objectifs pédagogiques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À la fin de ce chapitre, l'étudiant sera capable de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les logiciels par catégorie (système, app, utilitaire).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Distinguer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les licences (GPL, MIT, Apache, propriétaire).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Lire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 README, un changelog, une EULA.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Vérifier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la configuration minimale requise.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Choisir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la bonne méthode d'installation par 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Installer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via .exe, .msi, .deb, .rpm, .dmg, snap, flatpak.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Configurer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 logiciel après installation.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Désinstaller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proprement sans laisser de résidus.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imes New Roman"/>
              </a:rPr>
              <a:t>Les différents types de logiciels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Classification fonctionnelle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Trois grandes catégories de logiciels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2286000" cy="1645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Logiciels SYSTÈME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005840"/>
            <a:ext cx="3200400" cy="164592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051560"/>
            <a:ext cx="306324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1F4E79"/>
                </a:solidFill>
                <a:latin typeface="Calibri"/>
              </a:rPr>
              <a:t>Indispensables au fonctionnement de la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05840"/>
            <a:ext cx="56692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51560"/>
            <a:ext cx="548640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Systèmes d'exploitation (Windows, Linux, macOS)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Pilotes (drivers) — carte graphique, imprimante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BIOS / UEFI — firmware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Bibliothèques système (glibc, .NET Framework)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Hyperviseurs (VirtualBox, VMware, Hyper-V)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2286000" cy="1645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Logiciels d'APPLICATION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743200"/>
            <a:ext cx="3200400" cy="164592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788920"/>
            <a:ext cx="306324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Lancés par l'utilisateur pour réaliser une tâche.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743200"/>
            <a:ext cx="56692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788920"/>
            <a:ext cx="548640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Bureautique : Word, Excel, LibreOffice, Notion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Web : Chrome, Firefox, Edge, Safari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Multimédia : VLC, Photoshop, Audacity, Blender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Communication : Outlook, Thunderbird, Slack, Teams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Jeux, IDE de développement, logiciels métier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2286000" cy="1645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Logiciels UTILITAIRES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4480560"/>
            <a:ext cx="3200400" cy="164592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526280"/>
            <a:ext cx="306324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E67E22"/>
                </a:solidFill>
                <a:latin typeface="Calibri"/>
              </a:rPr>
              <a:t>Outils pour maintenir, surveiller, sécuriser le PC.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480560"/>
            <a:ext cx="56692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526280"/>
            <a:ext cx="548640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Antivirus : Defender, Bitdefender, Kaspersky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Compression : 7-Zip, WinRAR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Nettoyage : CCleaner, BleachBit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Backup : Veeam, Macrium Reflect, rsync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Diagnostic : CPU-Z, HWInfo, CrystalDiskInfo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Classification par licence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Libre, propriétaire, freeware, shareware…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Les principales catégories de licences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210312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005840"/>
            <a:ext cx="493776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0058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Caractéristiques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0" y="1005840"/>
            <a:ext cx="466344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0058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Exemples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10312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Logiciel libre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417320"/>
            <a:ext cx="493776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41732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Code source disponible + 4 libertés. Modification et redistribution autorisées.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417320"/>
            <a:ext cx="466344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41732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Linux, Firefox, LibreOffice, GIMP, VLC (GPL)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1168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116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Open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01168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20116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Code source ouvert. Variantes de licences (MIT, Apache, BSD) plus permissives.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2011680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01168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Chromium, Node.js, React, Kubernetes (MIT/Apache)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210312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Propriétaire (commercial)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06040"/>
            <a:ext cx="493776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26060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Code source FERMÉ. Achat ou abonnement obligatoire. EULA stricte.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606040"/>
            <a:ext cx="466344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60604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Microsoft Office, Adobe Photoshop, Windows, AutoCAD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0040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20040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Freeware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20040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20040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Gratuit mais code source FERMÉ. Restrictions sur la modification/distribution.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3200400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20040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Acrobat Reader, Skype, CCleaner Free, AnyDesk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94760"/>
            <a:ext cx="210312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7947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Shareware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794760"/>
            <a:ext cx="493776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3794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Période d'essai gratuite, paiement pour version complète.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3794760"/>
            <a:ext cx="466344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79476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WinRAR, IDM, Beyond Compare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8912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3891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Donationware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38912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0" y="438912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Gratuit, l'auteur accepte les dons volontaires.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4389120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438912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Audacity (avant 2021), certaines applis Android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83480"/>
            <a:ext cx="210312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9834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Abonnement (SaaS)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4983480"/>
            <a:ext cx="493776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0" y="49834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Paiement mensuel/annuel. Mises à jour incluses.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4983480"/>
            <a:ext cx="466344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498348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Microsoft 365, Adobe Creative Cloud, Notion Premium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57784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5778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Domaine public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557784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51760" y="55778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Aucun droit d'auteur. Tout est permis.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80" y="5577840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0" y="557784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Sources anciennes ou expressément libérées (CC0)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Documentation technique d'un logiciel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README, changelog, manuel, EULA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Documents à consulter pour un logiciel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README.md / README.txt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00584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03327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Description GÉNÉRALE du logiciel. À LIRE EN PREMIER.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234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Contient : description, fonctionnalités, prérequis, instructions d'installation rapide.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INSTALL.md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00584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03327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Guide d'installation détaillé.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234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Étapes pas à pas, dépendances à installer, options de compilation, troubleshooting.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0876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508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CHANGELOG.md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50876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15361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Historique des versions et changements.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17373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Quoi de neuf dans la version X.Y.Z ? Bugs corrigés, nouvelles fonctionnalités, changements cassants.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0876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08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LICENSE / LICENSE.txt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50876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5361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Texte légal de la licence.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7373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GPL, MIT, BSD, Apache, propriétaire. Lire pour comprendre vos droits.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01168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EULA (End User License Agreement)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201168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203911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Pour logiciels propriétaires : contrat utilisateur final.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22402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Ce que vous acceptez en installant. Souvent ignoré, parfois piégeux.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01168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RELEASE_NOTES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201168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03911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Notes de la dernière sortie.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2402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Résumé exécutif des changements importants. Pour décideurs / pressés.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51460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5146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CONTRIBUTING.md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51460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254203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Guide pour contributeurs (logiciels libres).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2743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Comment proposer un patch, signaler un bug, suivre la convention de code.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51460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5146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SECURITY.md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251460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254203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Politique de sécurité.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743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Comment signaler une faille de sécurité de façon responsable.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01752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Manuel utilisateur (user.pdf)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360" y="301752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304495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Documentation COMPLÈTE d'utilisation.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3246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Toutes les fonctionnalités expliquées. Souvent plusieurs centaines de pages.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017520"/>
            <a:ext cx="2377440" cy="4572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017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D2AB67"/>
                </a:solidFill>
                <a:latin typeface="Consolas"/>
              </a:rPr>
              <a:t>FAQ / Documentation en ligne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41080" y="3017520"/>
            <a:ext cx="31089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304495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B88A3F"/>
                </a:solidFill>
                <a:latin typeface="Calibri"/>
              </a:rPr>
              <a:t>Questions fréquentes + wiki.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3246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Souvent plus à jour que le manuel inclus. Réponses aux problèmes courants.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Times New Roman"/>
              </a:rPr>
              <a:t>Interpréter une documentation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Versions, prérequis, dépendances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Comprendre le versionnage SemVer (Semantic Versioning)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Format MAJOR.MINOR.PATCH — exemple : 3.11.4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64008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 i="0">
                <a:solidFill>
                  <a:srgbClr val="D2AB67"/>
                </a:solidFill>
                <a:latin typeface="Consolas"/>
              </a:rPr>
              <a:t>Version 3.11.4-beta.2+build.567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828800" cy="384048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D2AB67"/>
                </a:solidFill>
                <a:latin typeface="Consola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2402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MAJOR  — changements INCOMPATIBLES (passe de 2.x à 3.x = casse possible)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0048"/>
            <a:ext cx="1828800" cy="384048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D2AB67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670048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MINOR  — nouvelles fonctionnalités RÉTROCOMPATIBLES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99816"/>
            <a:ext cx="1828800" cy="384048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9981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D2AB67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099816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PATCH  — corrections de bugs uniquement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9584"/>
            <a:ext cx="1828800" cy="384048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D2AB67"/>
                </a:solidFill>
                <a:latin typeface="Consolas"/>
              </a:rPr>
              <a:t>-beta.2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529584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PRÉ-RELEASE — version de test (alpha, beta, rc = release candidate)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59352"/>
            <a:ext cx="1828800" cy="384048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593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D2AB67"/>
                </a:solidFill>
                <a:latin typeface="Consolas"/>
              </a:rPr>
              <a:t>+build.567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959352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MÉTADONNÉES — info technique (hash git, build number)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Types de versions et leur usage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2286000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749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Alpha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07492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Très instable. Pour tests internes seulement.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21808"/>
            <a:ext cx="2286000" cy="2286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2180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32180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Quelques bugs. Pour testeurs publics.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68696"/>
            <a:ext cx="2286000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5686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RC (Release Candidate)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568696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Quasi finale, derniers tests.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815584"/>
            <a:ext cx="2286000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81558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Stable / 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81558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Version finale, recommandée pour production.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062472"/>
            <a:ext cx="2286000" cy="2286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0624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LTS (Long Term Support)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606247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Maintenue plusieurs années (sécurité).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imes New Roman"/>
              </a:rPr>
              <a:t>Configuration minimale requise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Que vérifier avant d'installer 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Lire les pré-requis — exemple : Adobe Photoshop 2024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Décortiquer une fiche système requise.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01168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417320"/>
            <a:ext cx="256032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Minimum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417320"/>
            <a:ext cx="256032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Recommandé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417320"/>
            <a:ext cx="457200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4173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Interprétation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288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Processeur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82880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18288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Intel/AMD 64 bits, 2 GHz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82880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288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Multi-cœurs 3 GHz+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828800"/>
            <a:ext cx="457200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8288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CPU récent obligatoire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4028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402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24028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22402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8 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24028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22402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16 Go (32 pour 4K)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24028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24028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Photoshop adore la 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651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GPU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65176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2651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DirectX 12, 1,5 Go VRAM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65176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2651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4 Go VRAM dédié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2651760"/>
            <a:ext cx="457200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265176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Accélération IA et filtres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6324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0632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Espace disque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06324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30632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20 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06324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30632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100 Go SSD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06324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306324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SSD recommandé pour swap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74720"/>
            <a:ext cx="201168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4747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Résolution écran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347472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14600" y="34747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1280 × 800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347472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34747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1920 × 1080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3474720"/>
            <a:ext cx="457200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35240" y="347472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Interface complète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88620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886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Connexion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388620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14600" y="38862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Internet (activation)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388620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38862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Permanente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388620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38862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Compte Adobe ID requis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297680"/>
            <a:ext cx="201168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42976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Système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68880" y="429768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14600" y="42976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Windows 10 v22H2 / 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0" y="4297680"/>
            <a:ext cx="2560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4920" y="42976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Windows 11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0" y="4297680"/>
            <a:ext cx="457200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35240" y="429768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Pas de Win 7/8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7091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7091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Métadonnées GPU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8880" y="470916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14600" y="47091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.NET Framework 4.8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0" y="470916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74920" y="47091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0" y="470916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35240" y="470916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Dépendance .NET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98348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F7ECD0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Comment vérifier vos specs réelles 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534924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Windows : Win + R → msinfo32 → Récapitulatif du système.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Linux : lscpu, free -h, lsblk, glxinfo | grep 'OpenGL'.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macOS : Pomme → À propos de ce Mac.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Outil web universel : speccy.com ou cpu-z.com (Windows).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Times New Roman"/>
              </a:rPr>
              <a:t>Méthode 8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Étapes d'installation et exploitation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Les 8 étapes d'une installation logicielle réussie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Lire la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0759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README, INSTALL, prérequis, configuration minimale.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673352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73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Vérifier la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7510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Comparer specs requises vs specs réelles. Espace disque, RAM, GPU.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340864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408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40864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Télécharger depuis la SOURCE OFFICIELLE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42616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Site fabricant. NE JAMAIS télécharger sur un site tiers (malware !).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008376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083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08376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Vérifier l'intégrité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1012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Hash SHA-256 fourni par l'éditeur. certutil -hashfile fichier SHA256 (Windows).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675888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758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75888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Sauvegarde système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77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Point de restauration Windows, snapshot VM, image disque.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4340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Installer (en tant qu'admin)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64515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Exécuter l'installeur. Lire les options personnalisables (path, composants).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010912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109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01091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Configurer après installation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31266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Préférences, raccourcis, données, compte utilisateur, licence.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5678424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678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78424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Times New Roman"/>
              </a:rPr>
              <a:t>Tester et documenter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980176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Lancer une opération typique. Documenter version, date, options choisies.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imes New Roman"/>
              </a:rPr>
              <a:t>Méthodes d'installation par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Installeur, paquet, portable, gestionnaire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Méthodes d'installation sous Windows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960120"/>
            <a:ext cx="155448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Installeur .exe / .msi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96012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0058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1F4E79"/>
                </a:solidFill>
                <a:latin typeface="Calibri"/>
              </a:rPr>
              <a:t>Format classique. Setup graphique guidé.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96012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00584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Lancer comme administrateur (clic-droit → Exécuter en tant qu'admin)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Suivre l'assistant : Accepter EULA → Dossier → Composants → Installer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554480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Microsoft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01168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0574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Calibri"/>
              </a:rPr>
              <a:t>Magasin officiel intégré. Apps validées.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201168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05740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Démarrer → Microsoft Store → recherche → Obtenir / Installer.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Mises à jour automatiques. Désinstallation simple via Paramètres.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554480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winget (gestionnaire CLI moderne)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06324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310896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E67E22"/>
                </a:solidFill>
                <a:latin typeface="Calibri"/>
              </a:rPr>
              <a:t>Équivalent apt pour Windows.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06324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10896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winget search firefox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winget install --id Mozilla.Firefox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winget upgrade --all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winget uninstall Firefox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554480" cy="1005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Chocolatey (alternative)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411480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16052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C62828"/>
                </a:solidFill>
                <a:latin typeface="Calibri"/>
              </a:rPr>
              <a:t>Gestionnaire de paquets communautaire.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411480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16052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Installation : iwr https://community.chocolatey.org/install.ps1 | iex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choco install vlc git nodejs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choco upgrade 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1554480" cy="100584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6636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Logiciel PORTABLE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516636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52120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B88A3F"/>
                </a:solidFill>
                <a:latin typeface="Calibri"/>
              </a:rPr>
              <a:t>Pas d'installation — fichier .exe exécutable directement.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516636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521208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Décompresser le .zip dans un dossier de votre choix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Lancer l'exe directement. Pas de trace dans le SE (registre, menu).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Idéal pour clé USB ou tests rapides.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Méthodes d'installation sous Linux (Ubuntu)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960120"/>
            <a:ext cx="155448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apt (gestionnaire officiel)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96012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0058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1F4E79"/>
                </a:solidFill>
                <a:latin typeface="Calibri"/>
              </a:rPr>
              <a:t>Pour paquets Debian/Ubuntu (.deb).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96012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00584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apt update            # MAJ liste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apt install firefox   # installer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apt remove firefox    # désinstaller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apt search nginx           # chercher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554480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dpkg (.deb local)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01168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0574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Calibri"/>
              </a:rPr>
              <a:t>Installer un fichier .deb téléchargé.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201168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05740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dpkg -i package.deb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apt --fix-broken install  # si dépendances manquantes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554480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snap (Canonical)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06324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310896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E67E22"/>
                </a:solidFill>
                <a:latin typeface="Calibri"/>
              </a:rPr>
              <a:t>Paquets universels containerisés.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06324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10896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snap install code --classic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snap list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sudo snap remove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554480" cy="1005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flatpak (Flathub)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411480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16052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C62828"/>
                </a:solidFill>
                <a:latin typeface="Calibri"/>
              </a:rPr>
              <a:t>Format universel multi-distro.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411480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16052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flatpak install flathub org.gimp.GIMP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flatpak list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flatpak uninstall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1554480" cy="100584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6636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AppImage / compilation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5166360"/>
            <a:ext cx="320040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52120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B88A3F"/>
                </a:solidFill>
                <a:latin typeface="Calibri"/>
              </a:rPr>
              <a:t>AppImage : exécutable portable. Source : ./configure &amp;&amp; make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5166360"/>
            <a:ext cx="635508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521208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chmod +x app.AppImage &amp;&amp; ./app.AppImage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OU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tar -xzf source.tar.gz ; cd source ; ./configure &amp;&amp; make &amp;&amp; sudo make install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Désinstallation propre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Sans laisser de résidus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Désinstaller proprement — Windows et Linux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960120"/>
            <a:ext cx="55321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Sous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32120" cy="457200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349240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Méthode 1 — Paramètres → Applications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Win → Paramètres → Apps → Apps installées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Trouver l'appli → ⋮ → Désinstaller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Méthode 2 — Panneau de configuration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Win + R → appwiz.cpl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Sélectionner → Désinstaller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Méthode 3 — winget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winget uninstall &lt;nom&gt;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Méthode 4 — Outil Revo Uninstaller (tiers)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Nettoie aussi le registre et les fichiers résiduels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Toujours redémarrer après désinstallation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Vérifier qu'aucun service / processus ne reste.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Outils complémentaires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•  Disk Cleanup (cleanmgr)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•  Storage Sense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•  msconfig → onglet Démarrage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60120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96012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Sous Linux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532120" cy="457200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5349240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Désinstaller via apt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sudo apt remove firefox        # garde config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sudo apt purge firefox          # supprime config aussi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sudo apt autoremove             # nettoie orphelins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Désinstaller via snap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sudo snap remove code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Désinstaller via flatpak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flatpak uninstall org.gimp.GIMP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Désinstaller un compilé manuel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cd source/ ; sudo make uninstall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(si make uninstall existe — sinon manuel)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Trouver les fichiers d'un paquet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dpkg -L firefox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Nettoyer le cache apt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sudo apt clean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sudo apt autoclean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Installation d'un logiciel professionnel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Cas pratique complet (8 étapes)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Atelier — installer Visual Studio Code (Windows + Linux)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Durée : 1 h 30  |  Mode : binôme  |  Niveau : pratique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493776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4846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1 — Documentation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Aller sur code.visualstudio.com → Docs → System requirements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Noter : 1.6 GHz, 1 Go RAM mini, 200 Mo disque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2 — Vérifier configuration (Windows)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Win+R → msinfo32 → noter CPU, RAM, OS version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Linux : lscpu ; free -h ; lsb_release -a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3 — Télécharger depuis SOURCE OFFICIELLE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code.visualstudio.com/download → Windows .exe ou Linux .deb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⚠ NE PAS télécharger sur un site tiers !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4 — Vérifier hash (intégrité)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Windows : certutil -hashfile VSCodeSetup.exe SHA256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Linux : sha256sum code_amd64.deb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Comparer avec la valeur publiée sur le site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5 — Sauvegarde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Créer point de restauration (Windows)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Snapshot VM si en environnement test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6 — Installer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Windows : double-cliquer VSCodeSetup.exe → Suivant → Suivant → Installer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         (cocher 'Ajouter au PATH', 'Ouvrir avec code dans menu contextuel')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Linux  : sudo dpkg -i code_amd64.deb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         OU sudo snap install code --classic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7 — Configurer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Lancer VS Code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Installer extensions essentielles : Python, GitLens, Prettier, Material Icon Theme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Configurer thème, police, taille de la police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Connecter à un compte GitHub si nécessaire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8 — Tester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Créer un fichier test.py avec print('Hello')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Vérifier coloration syntaxique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Lancer le code (F5) si Python installé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Documenter : VS Code version 1.95, installé le DD/MM/YYYY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Synthèse globale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57200" y="103327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32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3327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3 catégories de logiciels : SYSTÈME, APPLICATION, UTILITAIRES.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3619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Licences : libre (GPL), open source (MIT, Apache), propriétaire, freeware, shareware, SaaS.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3911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391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Docs essentielles : README, INSTALL, CHANGELOG, LICENSE, EULA, manuel.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Versionnage SemVer : MAJOR.MINOR.PATCH (3.11.4) + pré-release (beta, rc) + métadonnées.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04495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44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4495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Vérifier la config minimale AVANT installation : CPU, RAM, GPU, disque, OS, réseau.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54787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47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4787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Méthode 8 étapes : doc → config → télécharger source officielle → hash → backup → installer → configurer → tester.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05079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507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5079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Windows : .exe / .msi / Microsoft Store / winget / Chocolatey / portable.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55371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537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37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Linux : apt / dpkg / snap / flatpak / AppImage / compilation source.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05663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566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0566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TOUJOURS télécharger depuis la SOURCE OFFICIELLE (sécurité).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555955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9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5955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Désinstallation propre = Paramètres + nettoyage registre/cache.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(1/2)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Photoshop est un logiciel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Système    b) Application    c) Utilitaire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application graphique.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GPL est une licence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Propriétaire    b) Libre (copyleft)    c) Freeware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licence libre avec copyleft.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Dans la version 3.11.4, le 11 est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MAJOR    b) MINOR    c)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MINOR (nouvelles fonctionnalités).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Pour télécharger un logiciel en sécurité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Site officiel    b) Premier lien Google    c) Forum aléatoire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a — toujours la source officielle.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Sous Ubuntu, installer firefox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yum install firefox    b) sudo apt install firefox    c) brew install firefox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apt sur Debian/Ubuntu.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(2/2)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Le hash SHA-256 sert à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Chiffrer    b) Vérifier l'intégrité d'un fichier    c) Compresser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détecter une altération.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 fichier .deb s'installe avec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apt install fichier.deb    b) dpkg -i fichier.deb    c) rpm -i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dpkg -i pour fichier local.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winget est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Un antivirus    b) Un gestionnaire de paquets Windows    c) Un firewall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équivalent apt pour Windows.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 logiciel PORTABLE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Doit être installé    b) S'exécute sans installation    c) Est 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pas de trace dans le 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Pour désinstaller proprement sous Linux + supprimer la config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apt remove    b) apt purge    c) rm -rf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purge supprime config en plus.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Conclusion du module ICML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Vous êtes désormais un installateur compétent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Félicitations — vous arrivez au bout du module « Installer des composants matériels et logiciels ».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En 4 chapitres, vous avez couvert l'intégralité du métier de l'installeur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CHAPITRE I — Caractéristiques des composantes : histoire, hardware, software, mémoires, périphériques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CHAPITRE II — Mise en marche et configuration : démarrage, DOS, Windows, personnalisation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CHAPITRE III — Périphériques : documentation, méthode 7 étapes, diagnostic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CHAPITRE IV — Logiciels : licences, versions, méthode 8 étapes, désinstallation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Vous avez désormais les compétences clés pour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Démonter et remonter un PC complet en sécurité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Installer et configurer Windows ou Linux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Lire une documentation technique professionnelle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Vérifier la compatibilité avant achat / installation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Suivre une méthode rigoureuse pour TOUT type d'installation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Diagnostiquer les problèmes courants matériels et logiciels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Vous êtes prêt(e) pour le métier de TECHNICIEN SUPPORT, ADMIN SYSTÈME junior, ou SUPPORT UTILISATEUR. Avec ces bases solides, la suite est entre vos mains : certifications (CompTIA A+, ITIL), spécialisation (réseau, sécurité, cloud), ou approfondissement (administration Linux avancée).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« Un bon installeur n'improvise pas : il LIT, il PLANIFIE, il EXÉCUTE, il DOCUMENTE. 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Références bibliographiques et webographiques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Bibliographie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Andrews J. — A+ Guide to Software, 9ᵉ éd., Cengage, 2019.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Russell C. — Mastering Windows 11, Packt,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Sobell M. — A Practical Guide to Ubuntu Linux, 4ᵉ éd., Prentice Hall, 2015.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Stallings W. — Operating Systems: Internals and Design Principles, 9ᵉ éd., Pearson, 2017.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Williams S. — Free as in Freedom: Richard Stallman's Crusade, O'Reilly, 2002.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Webographie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semver.org  —  Semantic Versioning specification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3872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spdx.org/licenses  —  catalogue de toutes les licences logicielles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8561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gnu.org/licenses  —  licences GPL et compatibilité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3250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325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opensource.org/licenses  —  licences approuvées OSI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winget.run  —  base de données winget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community.chocolatey.org/packages  —  paquets Chocolatey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snapcraft.io  —  catalogue Snap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005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flathub.org  —  catalogue Flatpak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6694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6694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appimage.org  —  applications portables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1383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1383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fr.wikipedia.org/wiki/Logiciel_libre  /  Versionnage_sémantique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28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